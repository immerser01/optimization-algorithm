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embeddedFontLst>
    <p:embeddedFont>
      <p:font typeface="DM Sans" panose="020F0502020204030204" pitchFamily="2" charset="0"/>
      <p:regular r:id="rId24"/>
      <p:bold r:id="rId25"/>
      <p:italic r:id="rId26"/>
      <p:boldItalic r:id="rId27"/>
    </p:embeddedFont>
    <p:embeddedFont>
      <p:font typeface="Merriweather" panose="00000500000000000000" pitchFamily="2" charset="0"/>
      <p:regular r:id="rId28"/>
      <p:bold r:id="rId29"/>
      <p:italic r:id="rId30"/>
      <p:boldItalic r:id="rId31"/>
    </p:embeddedFont>
    <p:embeddedFont>
      <p:font typeface="Roboto" panose="020F0502020204030204" pitchFamily="2"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27073D-2863-4D9E-8CA5-1BB38697C2BA}">
  <a:tblStyle styleId="{FD27073D-2863-4D9E-8CA5-1BB38697C2BA}"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29"/>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996418dd1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996418dd1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996418dd17_0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996418dd17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996418dd17_0_1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996418dd17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 name="Google Shape;147;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996418dd17_0_1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g3996418dd17_0_16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996418dd17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6" name="Google Shape;196;g3996418dd17_0_17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9" name="Google Shape;209;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996418dd17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7" name="Google Shape;227;g3996418dd17_0_25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996418dd17_0_2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g3996418dd17_0_26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9" name="Google Shape;239;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6" name="Google Shape;246;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996418dd17_0_3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4" name="Google Shape;264;g3996418dd17_0_34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3996418dd17_0_3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0" name="Google Shape;270;g3996418dd17_0_34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6" name="Google Shape;276;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a36592b013_3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3a36592b013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9" name="Google Shape;299;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0"/>
        <p:cNvGrpSpPr/>
        <p:nvPr/>
      </p:nvGrpSpPr>
      <p:grpSpPr>
        <a:xfrm>
          <a:off x="0" y="0"/>
          <a:ext cx="0" cy="0"/>
          <a:chOff x="0" y="0"/>
          <a:chExt cx="0" cy="0"/>
        </a:xfrm>
      </p:grpSpPr>
      <p:sp>
        <p:nvSpPr>
          <p:cNvPr id="81" name="Google Shape;81;p13"/>
          <p:cNvSpPr txBox="1">
            <a:spLocks noGrp="1"/>
          </p:cNvSpPr>
          <p:nvPr>
            <p:ph type="title"/>
          </p:nvPr>
        </p:nvSpPr>
        <p:spPr>
          <a:xfrm>
            <a:off x="415600" y="593367"/>
            <a:ext cx="11360700" cy="763500"/>
          </a:xfrm>
          <a:prstGeom prst="rect">
            <a:avLst/>
          </a:prstGeom>
        </p:spPr>
        <p:txBody>
          <a:bodyPr spcFirstLastPara="1" wrap="square" lIns="91425" tIns="45700" rIns="91425" bIns="45700" anchor="ctr" anchorCtr="0">
            <a:normAutofit/>
          </a:bodyPr>
          <a:lstStyle>
            <a:lvl1pPr lvl="0">
              <a:spcBef>
                <a:spcPts val="0"/>
              </a:spcBef>
              <a:spcAft>
                <a:spcPts val="0"/>
              </a:spcAft>
              <a:buSzPts val="4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13"/>
          <p:cNvSpPr txBox="1">
            <a:spLocks noGrp="1"/>
          </p:cNvSpPr>
          <p:nvPr>
            <p:ph type="body" idx="1"/>
          </p:nvPr>
        </p:nvSpPr>
        <p:spPr>
          <a:xfrm>
            <a:off x="415600" y="1536633"/>
            <a:ext cx="11360700" cy="4555200"/>
          </a:xfrm>
          <a:prstGeom prst="rect">
            <a:avLst/>
          </a:prstGeom>
        </p:spPr>
        <p:txBody>
          <a:bodyPr spcFirstLastPara="1" wrap="square" lIns="91425" tIns="45700" rIns="91425" bIns="45700" anchor="t" anchorCtr="0">
            <a:normAutofit/>
          </a:bodyPr>
          <a:lstStyle>
            <a:lvl1pPr marL="457200" lvl="0" indent="-431800">
              <a:spcBef>
                <a:spcPts val="640"/>
              </a:spcBef>
              <a:spcAft>
                <a:spcPts val="0"/>
              </a:spcAft>
              <a:buSzPts val="3200"/>
              <a:buChar char="•"/>
              <a:defRPr/>
            </a:lvl1pPr>
            <a:lvl2pPr marL="914400" lvl="1" indent="-406400">
              <a:spcBef>
                <a:spcPts val="560"/>
              </a:spcBef>
              <a:spcAft>
                <a:spcPts val="0"/>
              </a:spcAft>
              <a:buSzPts val="2800"/>
              <a:buChar char="–"/>
              <a:defRPr/>
            </a:lvl2pPr>
            <a:lvl3pPr marL="1371600" lvl="2" indent="-381000">
              <a:spcBef>
                <a:spcPts val="480"/>
              </a:spcBef>
              <a:spcAft>
                <a:spcPts val="0"/>
              </a:spcAft>
              <a:buSzPts val="2400"/>
              <a:buChar char="•"/>
              <a:defRPr/>
            </a:lvl3pPr>
            <a:lvl4pPr marL="1828800" lvl="3" indent="-355600">
              <a:spcBef>
                <a:spcPts val="400"/>
              </a:spcBef>
              <a:spcAft>
                <a:spcPts val="0"/>
              </a:spcAft>
              <a:buSzPts val="2000"/>
              <a:buChar char="–"/>
              <a:defRPr/>
            </a:lvl4pPr>
            <a:lvl5pPr marL="2286000" lvl="4" indent="-355600">
              <a:spcBef>
                <a:spcPts val="400"/>
              </a:spcBef>
              <a:spcAft>
                <a:spcPts val="0"/>
              </a:spcAft>
              <a:buSzPts val="2000"/>
              <a:buChar char="»"/>
              <a:defRPr/>
            </a:lvl5pPr>
            <a:lvl6pPr marL="2743200" lvl="5" indent="-355600">
              <a:spcBef>
                <a:spcPts val="400"/>
              </a:spcBef>
              <a:spcAft>
                <a:spcPts val="0"/>
              </a:spcAft>
              <a:buSzPts val="2000"/>
              <a:buChar char="•"/>
              <a:defRPr/>
            </a:lvl6pPr>
            <a:lvl7pPr marL="3200400" lvl="6" indent="-355600">
              <a:spcBef>
                <a:spcPts val="400"/>
              </a:spcBef>
              <a:spcAft>
                <a:spcPts val="0"/>
              </a:spcAft>
              <a:buSzPts val="2000"/>
              <a:buChar char="•"/>
              <a:defRPr/>
            </a:lvl7pPr>
            <a:lvl8pPr marL="3657600" lvl="7" indent="-355600">
              <a:spcBef>
                <a:spcPts val="400"/>
              </a:spcBef>
              <a:spcAft>
                <a:spcPts val="0"/>
              </a:spcAft>
              <a:buSzPts val="2000"/>
              <a:buChar char="•"/>
              <a:defRPr/>
            </a:lvl8pPr>
            <a:lvl9pPr marL="4114800" lvl="8" indent="-355600">
              <a:spcBef>
                <a:spcPts val="400"/>
              </a:spcBef>
              <a:spcAft>
                <a:spcPts val="0"/>
              </a:spcAft>
              <a:buSzPts val="2000"/>
              <a:buChar char="•"/>
              <a:defRPr/>
            </a:lvl9pPr>
          </a:lstStyle>
          <a:p>
            <a:endParaRPr/>
          </a:p>
        </p:txBody>
      </p:sp>
      <p:sp>
        <p:nvSpPr>
          <p:cNvPr id="83" name="Google Shape;83;p13"/>
          <p:cNvSpPr txBox="1">
            <a:spLocks noGrp="1"/>
          </p:cNvSpPr>
          <p:nvPr>
            <p:ph type="sldNum" idx="12"/>
          </p:nvPr>
        </p:nvSpPr>
        <p:spPr>
          <a:xfrm>
            <a:off x="11296610" y="6217622"/>
            <a:ext cx="731700" cy="524700"/>
          </a:xfrm>
          <a:prstGeom prst="rect">
            <a:avLst/>
          </a:prstGeom>
        </p:spPr>
        <p:txBody>
          <a:bodyPr spcFirstLastPara="1" wrap="square" lIns="91425" tIns="45700" rIns="91425" bIns="457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4"/>
          <p:cNvSpPr txBox="1">
            <a:spLocks noGrp="1"/>
          </p:cNvSpPr>
          <p:nvPr>
            <p:ph type="ctrTitle"/>
          </p:nvPr>
        </p:nvSpPr>
        <p:spPr>
          <a:xfrm>
            <a:off x="415600" y="330100"/>
            <a:ext cx="11360700" cy="15255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SzPts val="1300"/>
              <a:buNone/>
            </a:pPr>
            <a:r>
              <a:rPr lang="en-US" sz="3200" b="1">
                <a:solidFill>
                  <a:srgbClr val="0B5394"/>
                </a:solidFill>
              </a:rPr>
              <a:t>Finding Global Optima for Constrained Problems: A Marquardt-Penalty Approach</a:t>
            </a:r>
            <a:endParaRPr sz="3200" b="1">
              <a:solidFill>
                <a:srgbClr val="0B5394"/>
              </a:solidFill>
            </a:endParaRPr>
          </a:p>
        </p:txBody>
      </p:sp>
      <p:sp>
        <p:nvSpPr>
          <p:cNvPr id="89" name="Google Shape;89;p14"/>
          <p:cNvSpPr txBox="1">
            <a:spLocks noGrp="1"/>
          </p:cNvSpPr>
          <p:nvPr>
            <p:ph type="subTitle" idx="1"/>
          </p:nvPr>
        </p:nvSpPr>
        <p:spPr>
          <a:xfrm>
            <a:off x="415600" y="2425733"/>
            <a:ext cx="11360700" cy="4530900"/>
          </a:xfrm>
          <a:prstGeom prst="rect">
            <a:avLst/>
          </a:prstGeom>
        </p:spPr>
        <p:txBody>
          <a:bodyPr spcFirstLastPara="1" wrap="square" lIns="91425" tIns="45700" rIns="91425" bIns="45700" anchor="t" anchorCtr="0">
            <a:normAutofit/>
          </a:bodyPr>
          <a:lstStyle/>
          <a:p>
            <a:pPr marL="0" lvl="0" indent="0" algn="ctr" rtl="0">
              <a:spcBef>
                <a:spcPts val="640"/>
              </a:spcBef>
              <a:spcAft>
                <a:spcPts val="0"/>
              </a:spcAft>
              <a:buNone/>
            </a:pPr>
            <a:endParaRPr dirty="0"/>
          </a:p>
          <a:p>
            <a:pPr marL="0" lvl="0" indent="0" algn="ctr" rtl="0">
              <a:spcBef>
                <a:spcPts val="640"/>
              </a:spcBef>
              <a:spcAft>
                <a:spcPts val="0"/>
              </a:spcAft>
              <a:buNone/>
            </a:pPr>
            <a:r>
              <a:rPr lang="en-US" dirty="0">
                <a:solidFill>
                  <a:schemeClr val="accent5"/>
                </a:solidFill>
              </a:rPr>
              <a:t>By</a:t>
            </a:r>
            <a:r>
              <a:rPr lang="en-US" dirty="0"/>
              <a:t>:</a:t>
            </a:r>
          </a:p>
          <a:p>
            <a:pPr marL="0" lvl="0" indent="0" algn="ctr" rtl="0">
              <a:spcBef>
                <a:spcPts val="640"/>
              </a:spcBef>
              <a:spcAft>
                <a:spcPts val="0"/>
              </a:spcAft>
              <a:buNone/>
            </a:pPr>
            <a:endParaRPr dirty="0"/>
          </a:p>
          <a:p>
            <a:pPr marL="0" lvl="0" indent="0" algn="ctr" rtl="0">
              <a:spcBef>
                <a:spcPts val="640"/>
              </a:spcBef>
              <a:spcAft>
                <a:spcPts val="0"/>
              </a:spcAft>
              <a:buNone/>
            </a:pPr>
            <a:r>
              <a:rPr lang="en-US" dirty="0">
                <a:solidFill>
                  <a:srgbClr val="FF0000"/>
                </a:solidFill>
              </a:rPr>
              <a:t>Abhinav Ayush</a:t>
            </a:r>
            <a:br>
              <a:rPr lang="en-US" dirty="0">
                <a:solidFill>
                  <a:srgbClr val="FF0000"/>
                </a:solidFill>
              </a:rPr>
            </a:br>
            <a:r>
              <a:rPr lang="en-US" dirty="0">
                <a:solidFill>
                  <a:srgbClr val="00B050"/>
                </a:solidFill>
              </a:rPr>
              <a:t>IIT Guwahati</a:t>
            </a:r>
            <a:endParaRPr dirty="0">
              <a:solidFill>
                <a:srgbClr val="00B05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5"/>
          <p:cNvSpPr txBox="1">
            <a:spLocks noGrp="1"/>
          </p:cNvSpPr>
          <p:nvPr>
            <p:ph type="title"/>
          </p:nvPr>
        </p:nvSpPr>
        <p:spPr>
          <a:xfrm>
            <a:off x="415600" y="0"/>
            <a:ext cx="11360700" cy="7635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SzPts val="1300"/>
              <a:buNone/>
            </a:pPr>
            <a:r>
              <a:rPr lang="en-US" sz="3800" b="1">
                <a:solidFill>
                  <a:srgbClr val="0B5394"/>
                </a:solidFill>
              </a:rPr>
              <a:t>Algorithms</a:t>
            </a:r>
            <a:endParaRPr sz="3800" b="1">
              <a:solidFill>
                <a:srgbClr val="0B5394"/>
              </a:solidFill>
            </a:endParaRPr>
          </a:p>
        </p:txBody>
      </p:sp>
      <p:sp>
        <p:nvSpPr>
          <p:cNvPr id="95" name="Google Shape;95;p15"/>
          <p:cNvSpPr txBox="1">
            <a:spLocks noGrp="1"/>
          </p:cNvSpPr>
          <p:nvPr>
            <p:ph type="body" idx="1"/>
          </p:nvPr>
        </p:nvSpPr>
        <p:spPr>
          <a:xfrm>
            <a:off x="415600" y="931600"/>
            <a:ext cx="11360700" cy="5926500"/>
          </a:xfrm>
          <a:prstGeom prst="rect">
            <a:avLst/>
          </a:prstGeom>
        </p:spPr>
        <p:txBody>
          <a:bodyPr spcFirstLastPara="1" wrap="square" lIns="91425" tIns="45700" rIns="91425" bIns="45700" anchor="t" anchorCtr="0">
            <a:normAutofit fontScale="85000"/>
          </a:bodyPr>
          <a:lstStyle/>
          <a:p>
            <a:pPr marL="609600" lvl="0" indent="-477519" algn="l" rtl="0">
              <a:spcBef>
                <a:spcPts val="640"/>
              </a:spcBef>
              <a:spcAft>
                <a:spcPts val="0"/>
              </a:spcAft>
              <a:buSzPct val="100000"/>
              <a:buAutoNum type="arabicParenR"/>
            </a:pPr>
            <a:r>
              <a:rPr lang="en-US" b="1">
                <a:solidFill>
                  <a:srgbClr val="38761D"/>
                </a:solidFill>
              </a:rPr>
              <a:t>Bounding Phase Method</a:t>
            </a:r>
            <a:r>
              <a:rPr lang="en-US"/>
              <a:t>: Used to find a bracket for minima, which is later used by Bisection Method for precise calculation of alpha in our code.</a:t>
            </a:r>
            <a:endParaRPr/>
          </a:p>
          <a:p>
            <a:pPr marL="609600" lvl="0" indent="-477519" algn="l" rtl="0">
              <a:spcBef>
                <a:spcPts val="640"/>
              </a:spcBef>
              <a:spcAft>
                <a:spcPts val="0"/>
              </a:spcAft>
              <a:buSzPct val="100000"/>
              <a:buAutoNum type="arabicParenR"/>
            </a:pPr>
            <a:r>
              <a:rPr lang="en-US" b="1">
                <a:solidFill>
                  <a:srgbClr val="38761D"/>
                </a:solidFill>
              </a:rPr>
              <a:t>Bisection Method</a:t>
            </a:r>
            <a:r>
              <a:rPr lang="en-US"/>
              <a:t>: Uses derivative calculation to find a much tighter bound for the minima (upto 10</a:t>
            </a:r>
            <a:r>
              <a:rPr lang="en-US" baseline="30000"/>
              <a:t>-15</a:t>
            </a:r>
            <a:r>
              <a:rPr lang="en-US"/>
              <a:t>). This is used for precise alpha calculation.</a:t>
            </a:r>
            <a:endParaRPr/>
          </a:p>
          <a:p>
            <a:pPr marL="609600" lvl="0" indent="-477519" algn="l" rtl="0">
              <a:spcBef>
                <a:spcPts val="640"/>
              </a:spcBef>
              <a:spcAft>
                <a:spcPts val="0"/>
              </a:spcAft>
              <a:buSzPct val="100000"/>
              <a:buAutoNum type="arabicParenR"/>
            </a:pPr>
            <a:r>
              <a:rPr lang="en-US" b="1">
                <a:solidFill>
                  <a:srgbClr val="38761D"/>
                </a:solidFill>
              </a:rPr>
              <a:t>Marquardt’s Method</a:t>
            </a:r>
            <a:r>
              <a:rPr lang="en-US"/>
              <a:t>: This method is also known as “Damped Newton’s Method”. It behaves like Cauchy’s Theorem for bigger 𝜆 and Newton’s Method for smaller 𝜆. It can change its 𝜆 depending upon whether if the newest iteration led to a better solution or not.</a:t>
            </a:r>
            <a:endParaRPr/>
          </a:p>
          <a:p>
            <a:pPr marL="609600" lvl="0" indent="-477519" algn="l" rtl="0">
              <a:spcBef>
                <a:spcPts val="640"/>
              </a:spcBef>
              <a:spcAft>
                <a:spcPts val="0"/>
              </a:spcAft>
              <a:buSzPct val="139130"/>
              <a:buAutoNum type="arabicParenR"/>
            </a:pPr>
            <a:r>
              <a:rPr lang="en-US" b="1">
                <a:solidFill>
                  <a:srgbClr val="38761D"/>
                </a:solidFill>
              </a:rPr>
              <a:t>Bracket Penalty Method</a:t>
            </a:r>
            <a:r>
              <a:rPr lang="en-US"/>
              <a:t>: It is an exterior penalty method which transforms our constrained problem to an unconstrained problem, which is solved by Marquardt’s Method. It works by defining a penalty term (i.e. the price for breaking the constraint) and increasing the penalty constant (which acts as a multiplier for the penalty) every iteration. </a:t>
            </a:r>
            <a:r>
              <a:rPr lang="en-US" sz="1400">
                <a:solidFill>
                  <a:srgbClr val="C9C9CA"/>
                </a:solidFill>
                <a:highlight>
                  <a:srgbClr val="1C1C1D"/>
                </a:highlight>
              </a:rPr>
              <a:t> </a:t>
            </a:r>
            <a:endParaRPr sz="23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6"/>
          <p:cNvSpPr txBox="1">
            <a:spLocks noGrp="1"/>
          </p:cNvSpPr>
          <p:nvPr>
            <p:ph type="title"/>
          </p:nvPr>
        </p:nvSpPr>
        <p:spPr>
          <a:xfrm>
            <a:off x="415600" y="115633"/>
            <a:ext cx="11360700" cy="7635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b="1">
                <a:solidFill>
                  <a:srgbClr val="0B5394"/>
                </a:solidFill>
              </a:rPr>
              <a:t>Flow Chart</a:t>
            </a:r>
            <a:endParaRPr sz="4200" b="1">
              <a:solidFill>
                <a:srgbClr val="0B5394"/>
              </a:solidFill>
            </a:endParaRPr>
          </a:p>
        </p:txBody>
      </p:sp>
      <p:grpSp>
        <p:nvGrpSpPr>
          <p:cNvPr id="101" name="Google Shape;101;p16"/>
          <p:cNvGrpSpPr/>
          <p:nvPr/>
        </p:nvGrpSpPr>
        <p:grpSpPr>
          <a:xfrm>
            <a:off x="0" y="1586630"/>
            <a:ext cx="2952726" cy="4290056"/>
            <a:chOff x="0" y="1190002"/>
            <a:chExt cx="2214600" cy="3217623"/>
          </a:xfrm>
        </p:grpSpPr>
        <p:sp>
          <p:nvSpPr>
            <p:cNvPr id="102" name="Google Shape;102;p16"/>
            <p:cNvSpPr/>
            <p:nvPr/>
          </p:nvSpPr>
          <p:spPr>
            <a:xfrm>
              <a:off x="0" y="1190002"/>
              <a:ext cx="2214600" cy="867000"/>
            </a:xfrm>
            <a:prstGeom prst="homePlate">
              <a:avLst>
                <a:gd name="adj" fmla="val 50000"/>
              </a:avLst>
            </a:prstGeom>
            <a:solidFill>
              <a:srgbClr val="840D35"/>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1700">
                  <a:solidFill>
                    <a:srgbClr val="FFFFFF"/>
                  </a:solidFill>
                  <a:latin typeface="Roboto"/>
                  <a:ea typeface="Roboto"/>
                  <a:cs typeface="Roboto"/>
                  <a:sym typeface="Roboto"/>
                </a:rPr>
                <a:t>Using Bounding Phase + Bisection Method for 1-variable optimization</a:t>
              </a:r>
              <a:endParaRPr sz="1700">
                <a:solidFill>
                  <a:srgbClr val="FFFFFF"/>
                </a:solidFill>
                <a:latin typeface="Roboto"/>
                <a:ea typeface="Roboto"/>
                <a:cs typeface="Roboto"/>
                <a:sym typeface="Roboto"/>
              </a:endParaRPr>
            </a:p>
          </p:txBody>
        </p:sp>
        <p:sp>
          <p:nvSpPr>
            <p:cNvPr id="103" name="Google Shape;103;p16"/>
            <p:cNvSpPr txBox="1"/>
            <p:nvPr/>
          </p:nvSpPr>
          <p:spPr>
            <a:xfrm>
              <a:off x="295050" y="2057125"/>
              <a:ext cx="1624500" cy="235050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0"/>
                </a:spcAft>
                <a:buNone/>
              </a:pPr>
              <a:r>
                <a:rPr lang="en-US" sz="1900">
                  <a:latin typeface="Roboto"/>
                  <a:ea typeface="Roboto"/>
                  <a:cs typeface="Roboto"/>
                  <a:sym typeface="Roboto"/>
                </a:rPr>
                <a:t>Firstly, we use Bounding Phase method to find a wide bound for the optimization, which we later shorten by derivative calculation in Bisection Method.</a:t>
              </a:r>
              <a:endParaRPr sz="1900">
                <a:latin typeface="Roboto"/>
                <a:ea typeface="Roboto"/>
                <a:cs typeface="Roboto"/>
                <a:sym typeface="Roboto"/>
              </a:endParaRPr>
            </a:p>
          </p:txBody>
        </p:sp>
      </p:grpSp>
      <p:grpSp>
        <p:nvGrpSpPr>
          <p:cNvPr id="104" name="Google Shape;104;p16"/>
          <p:cNvGrpSpPr/>
          <p:nvPr/>
        </p:nvGrpSpPr>
        <p:grpSpPr>
          <a:xfrm>
            <a:off x="2451039" y="1586627"/>
            <a:ext cx="2751931" cy="4290059"/>
            <a:chOff x="1838325" y="1190000"/>
            <a:chExt cx="2064000" cy="3217625"/>
          </a:xfrm>
        </p:grpSpPr>
        <p:sp>
          <p:nvSpPr>
            <p:cNvPr id="105" name="Google Shape;105;p16"/>
            <p:cNvSpPr/>
            <p:nvPr/>
          </p:nvSpPr>
          <p:spPr>
            <a:xfrm>
              <a:off x="1838325" y="1190000"/>
              <a:ext cx="2064000" cy="867000"/>
            </a:xfrm>
            <a:prstGeom prst="chevron">
              <a:avLst>
                <a:gd name="adj" fmla="val 50000"/>
              </a:avLst>
            </a:prstGeom>
            <a:solidFill>
              <a:srgbClr val="AC1146"/>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1900">
                  <a:solidFill>
                    <a:srgbClr val="FFFFFF"/>
                  </a:solidFill>
                  <a:latin typeface="Roboto"/>
                  <a:ea typeface="Roboto"/>
                  <a:cs typeface="Roboto"/>
                  <a:sym typeface="Roboto"/>
                </a:rPr>
                <a:t>Using Phase 1 code for alpha calculation</a:t>
              </a:r>
              <a:endParaRPr sz="1900">
                <a:solidFill>
                  <a:srgbClr val="FFFFFF"/>
                </a:solidFill>
                <a:latin typeface="Roboto"/>
                <a:ea typeface="Roboto"/>
                <a:cs typeface="Roboto"/>
                <a:sym typeface="Roboto"/>
              </a:endParaRPr>
            </a:p>
          </p:txBody>
        </p:sp>
        <p:sp>
          <p:nvSpPr>
            <p:cNvPr id="106" name="Google Shape;106;p16"/>
            <p:cNvSpPr txBox="1"/>
            <p:nvPr/>
          </p:nvSpPr>
          <p:spPr>
            <a:xfrm>
              <a:off x="2017250" y="2057125"/>
              <a:ext cx="1624500" cy="235050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0"/>
                </a:spcAft>
                <a:buNone/>
              </a:pPr>
              <a:r>
                <a:rPr lang="en-US" sz="1900">
                  <a:latin typeface="Roboto"/>
                  <a:ea typeface="Roboto"/>
                  <a:cs typeface="Roboto"/>
                  <a:sym typeface="Roboto"/>
                </a:rPr>
                <a:t>Since our final goal is to solve multivariable problems, we use the earlier code to perform unidirectional search in the multivariable problem.</a:t>
              </a:r>
              <a:endParaRPr sz="1900">
                <a:latin typeface="Roboto"/>
                <a:ea typeface="Roboto"/>
                <a:cs typeface="Roboto"/>
                <a:sym typeface="Roboto"/>
              </a:endParaRPr>
            </a:p>
          </p:txBody>
        </p:sp>
      </p:grpSp>
      <p:grpSp>
        <p:nvGrpSpPr>
          <p:cNvPr id="107" name="Google Shape;107;p16"/>
          <p:cNvGrpSpPr/>
          <p:nvPr/>
        </p:nvGrpSpPr>
        <p:grpSpPr>
          <a:xfrm>
            <a:off x="4688883" y="1586327"/>
            <a:ext cx="2751931" cy="4290359"/>
            <a:chOff x="3516750" y="1189775"/>
            <a:chExt cx="2064000" cy="3217850"/>
          </a:xfrm>
        </p:grpSpPr>
        <p:sp>
          <p:nvSpPr>
            <p:cNvPr id="108" name="Google Shape;108;p16"/>
            <p:cNvSpPr/>
            <p:nvPr/>
          </p:nvSpPr>
          <p:spPr>
            <a:xfrm>
              <a:off x="3516750" y="1189775"/>
              <a:ext cx="2064000" cy="867300"/>
            </a:xfrm>
            <a:prstGeom prst="chevron">
              <a:avLst>
                <a:gd name="adj" fmla="val 50000"/>
              </a:avLst>
            </a:prstGeom>
            <a:solidFill>
              <a:srgbClr val="B6124A"/>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1900">
                  <a:solidFill>
                    <a:srgbClr val="FFFFFF"/>
                  </a:solidFill>
                  <a:latin typeface="Roboto"/>
                  <a:ea typeface="Roboto"/>
                  <a:cs typeface="Roboto"/>
                  <a:sym typeface="Roboto"/>
                </a:rPr>
                <a:t>Using Marquardt’s Method</a:t>
              </a:r>
              <a:endParaRPr sz="1900">
                <a:solidFill>
                  <a:srgbClr val="FFFFFF"/>
                </a:solidFill>
                <a:latin typeface="Roboto"/>
                <a:ea typeface="Roboto"/>
                <a:cs typeface="Roboto"/>
                <a:sym typeface="Roboto"/>
              </a:endParaRPr>
            </a:p>
          </p:txBody>
        </p:sp>
        <p:sp>
          <p:nvSpPr>
            <p:cNvPr id="109" name="Google Shape;109;p16"/>
            <p:cNvSpPr txBox="1"/>
            <p:nvPr/>
          </p:nvSpPr>
          <p:spPr>
            <a:xfrm>
              <a:off x="3739450" y="2057125"/>
              <a:ext cx="1624500" cy="235050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0"/>
                </a:spcAft>
                <a:buNone/>
              </a:pPr>
              <a:r>
                <a:rPr lang="en-US" sz="1900">
                  <a:latin typeface="Roboto"/>
                  <a:ea typeface="Roboto"/>
                  <a:cs typeface="Roboto"/>
                  <a:sym typeface="Roboto"/>
                </a:rPr>
                <a:t>In this phase, our goal is to solve unconstrained multivariable problems, which we achieve by using Marquardt’s method to find direction and unidirectional search for the next point.</a:t>
              </a:r>
              <a:endParaRPr sz="1900">
                <a:latin typeface="Roboto"/>
                <a:ea typeface="Roboto"/>
                <a:cs typeface="Roboto"/>
                <a:sym typeface="Roboto"/>
              </a:endParaRPr>
            </a:p>
          </p:txBody>
        </p:sp>
      </p:grpSp>
      <p:grpSp>
        <p:nvGrpSpPr>
          <p:cNvPr id="110" name="Google Shape;110;p16"/>
          <p:cNvGrpSpPr/>
          <p:nvPr/>
        </p:nvGrpSpPr>
        <p:grpSpPr>
          <a:xfrm>
            <a:off x="9165138" y="1586327"/>
            <a:ext cx="2751931" cy="4290359"/>
            <a:chOff x="6874025" y="1189775"/>
            <a:chExt cx="2064000" cy="3217850"/>
          </a:xfrm>
        </p:grpSpPr>
        <p:sp>
          <p:nvSpPr>
            <p:cNvPr id="111" name="Google Shape;111;p16"/>
            <p:cNvSpPr/>
            <p:nvPr/>
          </p:nvSpPr>
          <p:spPr>
            <a:xfrm>
              <a:off x="6874025" y="1189775"/>
              <a:ext cx="2064000" cy="867300"/>
            </a:xfrm>
            <a:prstGeom prst="chevron">
              <a:avLst>
                <a:gd name="adj" fmla="val 50000"/>
              </a:avLst>
            </a:prstGeom>
            <a:solidFill>
              <a:srgbClr val="E1165B"/>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1600">
                  <a:solidFill>
                    <a:srgbClr val="FFFFFF"/>
                  </a:solidFill>
                  <a:latin typeface="Roboto"/>
                  <a:ea typeface="Roboto"/>
                  <a:cs typeface="Roboto"/>
                  <a:sym typeface="Roboto"/>
                </a:rPr>
                <a:t>Using previous code with BPM for final algorithm </a:t>
              </a:r>
              <a:endParaRPr sz="1600">
                <a:solidFill>
                  <a:srgbClr val="FFFFFF"/>
                </a:solidFill>
                <a:latin typeface="Roboto"/>
                <a:ea typeface="Roboto"/>
                <a:cs typeface="Roboto"/>
                <a:sym typeface="Roboto"/>
              </a:endParaRPr>
            </a:p>
          </p:txBody>
        </p:sp>
        <p:sp>
          <p:nvSpPr>
            <p:cNvPr id="112" name="Google Shape;112;p16"/>
            <p:cNvSpPr txBox="1"/>
            <p:nvPr/>
          </p:nvSpPr>
          <p:spPr>
            <a:xfrm>
              <a:off x="7183850" y="2057125"/>
              <a:ext cx="1624500" cy="235050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0"/>
                </a:spcAft>
                <a:buNone/>
              </a:pPr>
              <a:r>
                <a:rPr lang="en-US" sz="1900">
                  <a:latin typeface="Roboto"/>
                  <a:ea typeface="Roboto"/>
                  <a:cs typeface="Roboto"/>
                  <a:sym typeface="Roboto"/>
                </a:rPr>
                <a:t>After converting the problem into unconstrained optimization, use Marquardt’s Method with Bracket Penalty to solve our problem. Our algorithm is complete. </a:t>
              </a:r>
              <a:endParaRPr sz="1900">
                <a:latin typeface="Roboto"/>
                <a:ea typeface="Roboto"/>
                <a:cs typeface="Roboto"/>
                <a:sym typeface="Roboto"/>
              </a:endParaRPr>
            </a:p>
          </p:txBody>
        </p:sp>
      </p:grpSp>
      <p:grpSp>
        <p:nvGrpSpPr>
          <p:cNvPr id="113" name="Google Shape;113;p16"/>
          <p:cNvGrpSpPr/>
          <p:nvPr/>
        </p:nvGrpSpPr>
        <p:grpSpPr>
          <a:xfrm>
            <a:off x="6926960" y="1586327"/>
            <a:ext cx="2751931" cy="4290359"/>
            <a:chOff x="5195350" y="1189775"/>
            <a:chExt cx="2064000" cy="3217850"/>
          </a:xfrm>
        </p:grpSpPr>
        <p:sp>
          <p:nvSpPr>
            <p:cNvPr id="114" name="Google Shape;114;p16"/>
            <p:cNvSpPr/>
            <p:nvPr/>
          </p:nvSpPr>
          <p:spPr>
            <a:xfrm>
              <a:off x="5195350" y="1189775"/>
              <a:ext cx="2064000" cy="867300"/>
            </a:xfrm>
            <a:prstGeom prst="chevron">
              <a:avLst>
                <a:gd name="adj" fmla="val 50000"/>
              </a:avLst>
            </a:prstGeom>
            <a:solidFill>
              <a:srgbClr val="C4134F"/>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1600">
                  <a:solidFill>
                    <a:srgbClr val="FFFFFF"/>
                  </a:solidFill>
                  <a:latin typeface="Roboto"/>
                  <a:ea typeface="Roboto"/>
                  <a:cs typeface="Roboto"/>
                  <a:sym typeface="Roboto"/>
                </a:rPr>
                <a:t>Using Bracket Penalty Method for constrained optimization</a:t>
              </a:r>
              <a:endParaRPr sz="1600">
                <a:solidFill>
                  <a:srgbClr val="FFFFFF"/>
                </a:solidFill>
                <a:latin typeface="Roboto"/>
                <a:ea typeface="Roboto"/>
                <a:cs typeface="Roboto"/>
                <a:sym typeface="Roboto"/>
              </a:endParaRPr>
            </a:p>
          </p:txBody>
        </p:sp>
        <p:sp>
          <p:nvSpPr>
            <p:cNvPr id="115" name="Google Shape;115;p16"/>
            <p:cNvSpPr txBox="1"/>
            <p:nvPr/>
          </p:nvSpPr>
          <p:spPr>
            <a:xfrm>
              <a:off x="5461650" y="2057125"/>
              <a:ext cx="1624500" cy="235050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0"/>
                </a:spcAft>
                <a:buNone/>
              </a:pPr>
              <a:r>
                <a:rPr lang="en-US" sz="1900">
                  <a:latin typeface="Roboto"/>
                  <a:ea typeface="Roboto"/>
                  <a:cs typeface="Roboto"/>
                  <a:sym typeface="Roboto"/>
                </a:rPr>
                <a:t>For being able to solve constrained optimization problems, we use Bracket penalty method to convert it into unconstrained by introducing penalty for exceeding the bounds.</a:t>
              </a:r>
              <a:endParaRPr sz="1900">
                <a:latin typeface="Roboto"/>
                <a:ea typeface="Roboto"/>
                <a:cs typeface="Roboto"/>
                <a:sym typeface="Roboto"/>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9"/>
        <p:cNvGrpSpPr/>
        <p:nvPr/>
      </p:nvGrpSpPr>
      <p:grpSpPr>
        <a:xfrm>
          <a:off x="0" y="0"/>
          <a:ext cx="0" cy="0"/>
          <a:chOff x="0" y="0"/>
          <a:chExt cx="0" cy="0"/>
        </a:xfrm>
      </p:grpSpPr>
      <p:pic>
        <p:nvPicPr>
          <p:cNvPr id="120" name="Google Shape;120;p17" descr="image.png"/>
          <p:cNvPicPr preferRelativeResize="0"/>
          <p:nvPr/>
        </p:nvPicPr>
        <p:blipFill rotWithShape="1">
          <a:blip r:embed="rId3">
            <a:alphaModFix/>
          </a:blip>
          <a:srcRect/>
          <a:stretch/>
        </p:blipFill>
        <p:spPr>
          <a:xfrm>
            <a:off x="571500" y="2371725"/>
            <a:ext cx="5286375" cy="3067050"/>
          </a:xfrm>
          <a:prstGeom prst="rect">
            <a:avLst/>
          </a:prstGeom>
          <a:noFill/>
          <a:ln>
            <a:noFill/>
          </a:ln>
        </p:spPr>
      </p:pic>
      <p:pic>
        <p:nvPicPr>
          <p:cNvPr id="121" name="Google Shape;121;p17" descr="image.png"/>
          <p:cNvPicPr preferRelativeResize="0"/>
          <p:nvPr/>
        </p:nvPicPr>
        <p:blipFill rotWithShape="1">
          <a:blip r:embed="rId4">
            <a:alphaModFix/>
          </a:blip>
          <a:srcRect/>
          <a:stretch/>
        </p:blipFill>
        <p:spPr>
          <a:xfrm>
            <a:off x="6334125" y="2371725"/>
            <a:ext cx="5286375" cy="3067050"/>
          </a:xfrm>
          <a:prstGeom prst="rect">
            <a:avLst/>
          </a:prstGeom>
          <a:noFill/>
          <a:ln>
            <a:noFill/>
          </a:ln>
        </p:spPr>
      </p:pic>
      <p:sp>
        <p:nvSpPr>
          <p:cNvPr id="122" name="Google Shape;122;p17"/>
          <p:cNvSpPr txBox="1"/>
          <p:nvPr/>
        </p:nvSpPr>
        <p:spPr>
          <a:xfrm>
            <a:off x="971550" y="2771775"/>
            <a:ext cx="4710600" cy="369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005088"/>
                </a:solidFill>
                <a:latin typeface="Merriweather"/>
                <a:ea typeface="Merriweather"/>
                <a:cs typeface="Merriweather"/>
                <a:sym typeface="Merriweather"/>
              </a:rPr>
              <a:t>Outer Loop (</a:t>
            </a:r>
            <a:r>
              <a:rPr lang="en-US" sz="2400" b="1">
                <a:solidFill>
                  <a:srgbClr val="005088"/>
                </a:solidFill>
                <a:latin typeface="Merriweather"/>
                <a:ea typeface="Merriweather"/>
                <a:cs typeface="Merriweather"/>
                <a:sym typeface="Merriweather"/>
              </a:rPr>
              <a:t>Penalty</a:t>
            </a:r>
            <a:r>
              <a:rPr lang="en-US" sz="2400" b="1" i="0" u="none" strike="noStrike" cap="none">
                <a:solidFill>
                  <a:srgbClr val="005088"/>
                </a:solidFill>
                <a:latin typeface="Merriweather"/>
                <a:ea typeface="Merriweather"/>
                <a:cs typeface="Merriweather"/>
                <a:sym typeface="Merriweather"/>
              </a:rPr>
              <a:t>)</a:t>
            </a:r>
            <a:endParaRPr/>
          </a:p>
        </p:txBody>
      </p:sp>
      <p:sp>
        <p:nvSpPr>
          <p:cNvPr id="123" name="Google Shape;123;p17"/>
          <p:cNvSpPr txBox="1"/>
          <p:nvPr/>
        </p:nvSpPr>
        <p:spPr>
          <a:xfrm>
            <a:off x="971550" y="3324225"/>
            <a:ext cx="4486200" cy="1968300"/>
          </a:xfrm>
          <a:prstGeom prst="rect">
            <a:avLst/>
          </a:prstGeom>
          <a:noFill/>
          <a:ln>
            <a:noFill/>
          </a:ln>
        </p:spPr>
        <p:txBody>
          <a:bodyPr spcFirstLastPara="1" wrap="square" lIns="0" tIns="0" rIns="0" bIns="0" anchor="t" anchorCtr="0">
            <a:spAutoFit/>
          </a:bodyPr>
          <a:lstStyle/>
          <a:p>
            <a:pPr marL="0" marR="0" lvl="0" indent="0" algn="l" rtl="0">
              <a:lnSpc>
                <a:spcPct val="112500"/>
              </a:lnSpc>
              <a:spcBef>
                <a:spcPts val="0"/>
              </a:spcBef>
              <a:spcAft>
                <a:spcPts val="0"/>
              </a:spcAft>
              <a:buNone/>
            </a:pPr>
            <a:r>
              <a:rPr lang="en-US" sz="1650" b="0" i="0" u="none" strike="noStrike" cap="none">
                <a:solidFill>
                  <a:srgbClr val="121212"/>
                </a:solidFill>
                <a:latin typeface="DM Sans"/>
                <a:ea typeface="DM Sans"/>
                <a:cs typeface="DM Sans"/>
                <a:sym typeface="DM Sans"/>
              </a:rPr>
              <a:t>Converts a constrained problem into a series of unconstrained problems. It uses a bracket-operator penalty function: </a:t>
            </a:r>
            <a:br>
              <a:rPr lang="en-US" sz="2100" b="0" i="0" u="none" strike="noStrike" cap="none">
                <a:solidFill>
                  <a:schemeClr val="dk1"/>
                </a:solidFill>
                <a:latin typeface="Calibri"/>
                <a:ea typeface="Calibri"/>
                <a:cs typeface="Calibri"/>
                <a:sym typeface="Calibri"/>
              </a:rPr>
            </a:br>
            <a:r>
              <a:rPr lang="en-US" sz="1650" b="1" i="0" u="none" strike="noStrike" cap="none">
                <a:solidFill>
                  <a:srgbClr val="121212"/>
                </a:solidFill>
                <a:latin typeface="DM Sans"/>
                <a:ea typeface="DM Sans"/>
                <a:cs typeface="DM Sans"/>
                <a:sym typeface="DM Sans"/>
              </a:rPr>
              <a:t>P(x, R) = f(x) + R * Σ²</a:t>
            </a:r>
            <a:r>
              <a:rPr lang="en-US" sz="1650" b="0" i="0" u="none" strike="noStrike" cap="none">
                <a:solidFill>
                  <a:srgbClr val="121212"/>
                </a:solidFill>
                <a:latin typeface="DM Sans"/>
                <a:ea typeface="DM Sans"/>
                <a:cs typeface="DM Sans"/>
                <a:sym typeface="DM Sans"/>
              </a:rPr>
              <a:t> </a:t>
            </a:r>
            <a:br>
              <a:rPr lang="en-US" sz="2100" b="0" i="0" u="none" strike="noStrike" cap="none">
                <a:solidFill>
                  <a:schemeClr val="dk1"/>
                </a:solidFill>
                <a:latin typeface="Calibri"/>
                <a:ea typeface="Calibri"/>
                <a:cs typeface="Calibri"/>
                <a:sym typeface="Calibri"/>
              </a:rPr>
            </a:br>
            <a:r>
              <a:rPr lang="en-US" sz="1650" b="0" i="0" u="none" strike="noStrike" cap="none">
                <a:solidFill>
                  <a:srgbClr val="121212"/>
                </a:solidFill>
                <a:latin typeface="DM Sans"/>
                <a:ea typeface="DM Sans"/>
                <a:cs typeface="DM Sans"/>
                <a:sym typeface="DM Sans"/>
              </a:rPr>
              <a:t> The penalty parameter R is progressively increased (R_k+1 = c * R_k) to enforce constraints.</a:t>
            </a:r>
            <a:endParaRPr sz="1700"/>
          </a:p>
        </p:txBody>
      </p:sp>
      <p:sp>
        <p:nvSpPr>
          <p:cNvPr id="124" name="Google Shape;124;p17"/>
          <p:cNvSpPr txBox="1"/>
          <p:nvPr/>
        </p:nvSpPr>
        <p:spPr>
          <a:xfrm>
            <a:off x="6734175" y="2771775"/>
            <a:ext cx="4710588"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005088"/>
                </a:solidFill>
                <a:latin typeface="Merriweather"/>
                <a:ea typeface="Merriweather"/>
                <a:cs typeface="Merriweather"/>
                <a:sym typeface="Merriweather"/>
              </a:rPr>
              <a:t>Inner Loop (Marquardt)</a:t>
            </a:r>
            <a:endParaRPr/>
          </a:p>
        </p:txBody>
      </p:sp>
      <p:sp>
        <p:nvSpPr>
          <p:cNvPr id="125" name="Google Shape;125;p17"/>
          <p:cNvSpPr txBox="1"/>
          <p:nvPr/>
        </p:nvSpPr>
        <p:spPr>
          <a:xfrm>
            <a:off x="6734175" y="3324225"/>
            <a:ext cx="4486200" cy="1853700"/>
          </a:xfrm>
          <a:prstGeom prst="rect">
            <a:avLst/>
          </a:prstGeom>
          <a:noFill/>
          <a:ln>
            <a:noFill/>
          </a:ln>
        </p:spPr>
        <p:txBody>
          <a:bodyPr spcFirstLastPara="1" wrap="square" lIns="0" tIns="0" rIns="0" bIns="0" anchor="t" anchorCtr="0">
            <a:spAutoFit/>
          </a:bodyPr>
          <a:lstStyle/>
          <a:p>
            <a:pPr marL="0" marR="0" lvl="0" indent="0" algn="l" rtl="0">
              <a:lnSpc>
                <a:spcPct val="112500"/>
              </a:lnSpc>
              <a:spcBef>
                <a:spcPts val="0"/>
              </a:spcBef>
              <a:spcAft>
                <a:spcPts val="0"/>
              </a:spcAft>
              <a:buNone/>
            </a:pPr>
            <a:r>
              <a:rPr lang="en-US" sz="1750" b="0" i="0" u="none" strike="noStrike" cap="none">
                <a:solidFill>
                  <a:srgbClr val="121212"/>
                </a:solidFill>
                <a:latin typeface="DM Sans"/>
                <a:ea typeface="DM Sans"/>
                <a:cs typeface="DM Sans"/>
                <a:sym typeface="DM Sans"/>
              </a:rPr>
              <a:t>Each unconstrained problem P(x, R_k) is solved using the Marquardt (Levenberg-Marquardt) method. This method blends Steepest Descent and Gaussian-Newton by modifying the Hessian: </a:t>
            </a:r>
            <a:r>
              <a:rPr lang="en-US" sz="2200">
                <a:solidFill>
                  <a:schemeClr val="dk1"/>
                </a:solidFill>
                <a:latin typeface="Calibri"/>
                <a:ea typeface="Calibri"/>
                <a:cs typeface="Calibri"/>
                <a:sym typeface="Calibri"/>
              </a:rPr>
              <a:t> </a:t>
            </a:r>
            <a:r>
              <a:rPr lang="en-US" sz="1750" b="1" i="0" u="none" strike="noStrike" cap="none">
                <a:solidFill>
                  <a:srgbClr val="121212"/>
                </a:solidFill>
                <a:latin typeface="DM Sans"/>
                <a:ea typeface="DM Sans"/>
                <a:cs typeface="DM Sans"/>
                <a:sym typeface="DM Sans"/>
              </a:rPr>
              <a:t>[H + λI]s = -gradient</a:t>
            </a:r>
            <a:endParaRPr sz="1800"/>
          </a:p>
        </p:txBody>
      </p:sp>
      <p:sp>
        <p:nvSpPr>
          <p:cNvPr id="126" name="Google Shape;126;p17"/>
          <p:cNvSpPr txBox="1"/>
          <p:nvPr/>
        </p:nvSpPr>
        <p:spPr>
          <a:xfrm>
            <a:off x="571500" y="571500"/>
            <a:ext cx="11601600" cy="631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100" b="1" i="0" u="none" strike="noStrike" cap="none">
                <a:solidFill>
                  <a:srgbClr val="0B5394"/>
                </a:solidFill>
                <a:latin typeface="Merriweather"/>
                <a:ea typeface="Merriweather"/>
                <a:cs typeface="Merriweather"/>
                <a:sym typeface="Merriweather"/>
              </a:rPr>
              <a:t>Core Concepts</a:t>
            </a:r>
            <a:endParaRPr sz="1900">
              <a:solidFill>
                <a:srgbClr val="0B5394"/>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0"/>
        <p:cNvGrpSpPr/>
        <p:nvPr/>
      </p:nvGrpSpPr>
      <p:grpSpPr>
        <a:xfrm>
          <a:off x="0" y="0"/>
          <a:ext cx="0" cy="0"/>
          <a:chOff x="0" y="0"/>
          <a:chExt cx="0" cy="0"/>
        </a:xfrm>
      </p:grpSpPr>
      <p:sp>
        <p:nvSpPr>
          <p:cNvPr id="131" name="Google Shape;131;p18"/>
          <p:cNvSpPr/>
          <p:nvPr/>
        </p:nvSpPr>
        <p:spPr>
          <a:xfrm>
            <a:off x="571500" y="3886200"/>
            <a:ext cx="11049000" cy="38100"/>
          </a:xfrm>
          <a:prstGeom prst="roundRect">
            <a:avLst>
              <a:gd name="adj" fmla="val 16667"/>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2" name="Google Shape;132;p18"/>
          <p:cNvSpPr txBox="1"/>
          <p:nvPr/>
        </p:nvSpPr>
        <p:spPr>
          <a:xfrm>
            <a:off x="507968" y="4143375"/>
            <a:ext cx="2668302" cy="2952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005088"/>
                </a:solidFill>
                <a:latin typeface="Merriweather"/>
                <a:ea typeface="Merriweather"/>
                <a:cs typeface="Merriweather"/>
                <a:sym typeface="Merriweather"/>
              </a:rPr>
              <a:t>Step 1: Initialize</a:t>
            </a:r>
            <a:endParaRPr/>
          </a:p>
        </p:txBody>
      </p:sp>
      <p:sp>
        <p:nvSpPr>
          <p:cNvPr id="133" name="Google Shape;133;p18"/>
          <p:cNvSpPr txBox="1"/>
          <p:nvPr/>
        </p:nvSpPr>
        <p:spPr>
          <a:xfrm>
            <a:off x="571500" y="4610100"/>
            <a:ext cx="2541240" cy="5143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121212"/>
                </a:solidFill>
                <a:latin typeface="DM Sans"/>
                <a:ea typeface="DM Sans"/>
                <a:cs typeface="DM Sans"/>
                <a:sym typeface="DM Sans"/>
              </a:rPr>
              <a:t>Initialize x_0, R_0, c, ε_outer, ε_inner</a:t>
            </a:r>
            <a:endParaRPr/>
          </a:p>
        </p:txBody>
      </p:sp>
      <p:sp>
        <p:nvSpPr>
          <p:cNvPr id="134" name="Google Shape;134;p18"/>
          <p:cNvSpPr txBox="1"/>
          <p:nvPr/>
        </p:nvSpPr>
        <p:spPr>
          <a:xfrm>
            <a:off x="3343888" y="2514600"/>
            <a:ext cx="2668302" cy="2952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005088"/>
                </a:solidFill>
                <a:latin typeface="Merriweather"/>
                <a:ea typeface="Merriweather"/>
                <a:cs typeface="Merriweather"/>
                <a:sym typeface="Merriweather"/>
              </a:rPr>
              <a:t>Step 2: Inner Loop</a:t>
            </a:r>
            <a:endParaRPr/>
          </a:p>
        </p:txBody>
      </p:sp>
      <p:sp>
        <p:nvSpPr>
          <p:cNvPr id="135" name="Google Shape;135;p18"/>
          <p:cNvSpPr txBox="1"/>
          <p:nvPr/>
        </p:nvSpPr>
        <p:spPr>
          <a:xfrm>
            <a:off x="3407419" y="2981325"/>
            <a:ext cx="2541240" cy="5143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121212"/>
                </a:solidFill>
                <a:latin typeface="DM Sans"/>
                <a:ea typeface="DM Sans"/>
                <a:cs typeface="DM Sans"/>
                <a:sym typeface="DM Sans"/>
              </a:rPr>
              <a:t>Solve min P(x, R_k) using Marquardt method to find x_k*</a:t>
            </a:r>
            <a:endParaRPr/>
          </a:p>
        </p:txBody>
      </p:sp>
      <p:sp>
        <p:nvSpPr>
          <p:cNvPr id="136" name="Google Shape;136;p18"/>
          <p:cNvSpPr txBox="1"/>
          <p:nvPr/>
        </p:nvSpPr>
        <p:spPr>
          <a:xfrm>
            <a:off x="6179808" y="4143375"/>
            <a:ext cx="2668302" cy="2952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005088"/>
                </a:solidFill>
                <a:latin typeface="Merriweather"/>
                <a:ea typeface="Merriweather"/>
                <a:cs typeface="Merriweather"/>
                <a:sym typeface="Merriweather"/>
              </a:rPr>
              <a:t>Step 3: Check</a:t>
            </a:r>
            <a:endParaRPr/>
          </a:p>
        </p:txBody>
      </p:sp>
      <p:sp>
        <p:nvSpPr>
          <p:cNvPr id="137" name="Google Shape;137;p18"/>
          <p:cNvSpPr txBox="1"/>
          <p:nvPr/>
        </p:nvSpPr>
        <p:spPr>
          <a:xfrm>
            <a:off x="6243339" y="4610100"/>
            <a:ext cx="2541240" cy="5143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121212"/>
                </a:solidFill>
                <a:latin typeface="DM Sans"/>
                <a:ea typeface="DM Sans"/>
                <a:cs typeface="DM Sans"/>
                <a:sym typeface="DM Sans"/>
              </a:rPr>
              <a:t>If |P_k - P_k-1| &lt; ε_outer, stop. Solution is x_k*.</a:t>
            </a:r>
            <a:endParaRPr/>
          </a:p>
        </p:txBody>
      </p:sp>
      <p:sp>
        <p:nvSpPr>
          <p:cNvPr id="138" name="Google Shape;138;p18"/>
          <p:cNvSpPr txBox="1"/>
          <p:nvPr/>
        </p:nvSpPr>
        <p:spPr>
          <a:xfrm>
            <a:off x="9015728" y="2257425"/>
            <a:ext cx="2668302" cy="2952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005088"/>
                </a:solidFill>
                <a:latin typeface="Merriweather"/>
                <a:ea typeface="Merriweather"/>
                <a:cs typeface="Merriweather"/>
                <a:sym typeface="Merriweather"/>
              </a:rPr>
              <a:t>Step 4: Update</a:t>
            </a:r>
            <a:endParaRPr/>
          </a:p>
        </p:txBody>
      </p:sp>
      <p:sp>
        <p:nvSpPr>
          <p:cNvPr id="139" name="Google Shape;139;p18"/>
          <p:cNvSpPr txBox="1"/>
          <p:nvPr/>
        </p:nvSpPr>
        <p:spPr>
          <a:xfrm>
            <a:off x="9079259" y="2724150"/>
            <a:ext cx="2541240" cy="7715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121212"/>
                </a:solidFill>
                <a:latin typeface="DM Sans"/>
                <a:ea typeface="DM Sans"/>
                <a:cs typeface="DM Sans"/>
                <a:sym typeface="DM Sans"/>
              </a:rPr>
              <a:t>Update Penalty: R_k+1 = c * R_k. Set x_0 = x_k*. Go to Step 2.</a:t>
            </a:r>
            <a:endParaRPr/>
          </a:p>
        </p:txBody>
      </p:sp>
      <p:sp>
        <p:nvSpPr>
          <p:cNvPr id="140" name="Google Shape;140;p18"/>
          <p:cNvSpPr/>
          <p:nvPr/>
        </p:nvSpPr>
        <p:spPr>
          <a:xfrm>
            <a:off x="1746870" y="3810000"/>
            <a:ext cx="190500" cy="190500"/>
          </a:xfrm>
          <a:prstGeom prst="roundRect">
            <a:avLst>
              <a:gd name="adj" fmla="val 50000"/>
            </a:avLst>
          </a:prstGeom>
          <a:solidFill>
            <a:srgbClr val="FFFFFF"/>
          </a:solidFill>
          <a:ln w="38100" cap="flat" cmpd="sng">
            <a:solidFill>
              <a:srgbClr val="00508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1" name="Google Shape;141;p18"/>
          <p:cNvSpPr/>
          <p:nvPr/>
        </p:nvSpPr>
        <p:spPr>
          <a:xfrm>
            <a:off x="4582790" y="3810000"/>
            <a:ext cx="190500" cy="190500"/>
          </a:xfrm>
          <a:prstGeom prst="roundRect">
            <a:avLst>
              <a:gd name="adj" fmla="val 50000"/>
            </a:avLst>
          </a:prstGeom>
          <a:solidFill>
            <a:srgbClr val="FFFFFF"/>
          </a:solidFill>
          <a:ln w="38100" cap="flat" cmpd="sng">
            <a:solidFill>
              <a:srgbClr val="00508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2" name="Google Shape;142;p18"/>
          <p:cNvSpPr/>
          <p:nvPr/>
        </p:nvSpPr>
        <p:spPr>
          <a:xfrm>
            <a:off x="7418709" y="3810000"/>
            <a:ext cx="190500" cy="190500"/>
          </a:xfrm>
          <a:prstGeom prst="roundRect">
            <a:avLst>
              <a:gd name="adj" fmla="val 50000"/>
            </a:avLst>
          </a:prstGeom>
          <a:solidFill>
            <a:srgbClr val="FFFFFF"/>
          </a:solidFill>
          <a:ln w="38100" cap="flat" cmpd="sng">
            <a:solidFill>
              <a:srgbClr val="00508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3" name="Google Shape;143;p18"/>
          <p:cNvSpPr/>
          <p:nvPr/>
        </p:nvSpPr>
        <p:spPr>
          <a:xfrm>
            <a:off x="10254629" y="3810000"/>
            <a:ext cx="190500" cy="190500"/>
          </a:xfrm>
          <a:prstGeom prst="roundRect">
            <a:avLst>
              <a:gd name="adj" fmla="val 50000"/>
            </a:avLst>
          </a:prstGeom>
          <a:solidFill>
            <a:srgbClr val="FFFFFF"/>
          </a:solidFill>
          <a:ln w="38100" cap="flat" cmpd="sng">
            <a:solidFill>
              <a:srgbClr val="00508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4" name="Google Shape;144;p18"/>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005088"/>
                </a:solidFill>
                <a:latin typeface="Merriweather"/>
                <a:ea typeface="Merriweather"/>
                <a:cs typeface="Merriweather"/>
                <a:sym typeface="Merriweather"/>
              </a:rPr>
              <a:t>Algorithm Flowchart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8"/>
        <p:cNvGrpSpPr/>
        <p:nvPr/>
      </p:nvGrpSpPr>
      <p:grpSpPr>
        <a:xfrm>
          <a:off x="0" y="0"/>
          <a:ext cx="0" cy="0"/>
          <a:chOff x="0" y="0"/>
          <a:chExt cx="0" cy="0"/>
        </a:xfrm>
      </p:grpSpPr>
      <p:sp>
        <p:nvSpPr>
          <p:cNvPr id="149" name="Google Shape;149;p19"/>
          <p:cNvSpPr txBox="1"/>
          <p:nvPr/>
        </p:nvSpPr>
        <p:spPr>
          <a:xfrm>
            <a:off x="2190750" y="1952625"/>
            <a:ext cx="8191500" cy="18573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005088"/>
                </a:solidFill>
                <a:latin typeface="DM Sans"/>
                <a:ea typeface="DM Sans"/>
                <a:cs typeface="DM Sans"/>
                <a:sym typeface="DM Sans"/>
              </a:rPr>
              <a:t>Outer Loop (SUMT):</a:t>
            </a:r>
            <a:endParaRPr/>
          </a:p>
        </p:txBody>
      </p:sp>
      <p:sp>
        <p:nvSpPr>
          <p:cNvPr id="150" name="Google Shape;150;p19"/>
          <p:cNvSpPr txBox="1"/>
          <p:nvPr/>
        </p:nvSpPr>
        <p:spPr>
          <a:xfrm>
            <a:off x="2190750" y="4000500"/>
            <a:ext cx="8191500" cy="9620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005088"/>
                </a:solidFill>
                <a:latin typeface="DM Sans"/>
                <a:ea typeface="DM Sans"/>
                <a:cs typeface="DM Sans"/>
                <a:sym typeface="DM Sans"/>
              </a:rPr>
              <a:t>Inner Loop (Marquardt):</a:t>
            </a:r>
            <a:endParaRPr/>
          </a:p>
        </p:txBody>
      </p:sp>
      <p:sp>
        <p:nvSpPr>
          <p:cNvPr id="151" name="Google Shape;151;p19"/>
          <p:cNvSpPr txBox="1"/>
          <p:nvPr/>
        </p:nvSpPr>
        <p:spPr>
          <a:xfrm>
            <a:off x="2190750" y="5153025"/>
            <a:ext cx="8191500"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005088"/>
                </a:solidFill>
                <a:latin typeface="DM Sans"/>
                <a:ea typeface="DM Sans"/>
                <a:cs typeface="DM Sans"/>
                <a:sym typeface="DM Sans"/>
              </a:rPr>
              <a:t>1D Search (Bisection):</a:t>
            </a:r>
            <a:endParaRPr/>
          </a:p>
        </p:txBody>
      </p:sp>
      <p:pic>
        <p:nvPicPr>
          <p:cNvPr id="152" name="Google Shape;152;p19" descr="image.png"/>
          <p:cNvPicPr preferRelativeResize="0"/>
          <p:nvPr/>
        </p:nvPicPr>
        <p:blipFill rotWithShape="1">
          <a:blip r:embed="rId3">
            <a:alphaModFix/>
          </a:blip>
          <a:srcRect/>
          <a:stretch/>
        </p:blipFill>
        <p:spPr>
          <a:xfrm>
            <a:off x="1809750" y="2000250"/>
            <a:ext cx="285750" cy="228600"/>
          </a:xfrm>
          <a:prstGeom prst="rect">
            <a:avLst/>
          </a:prstGeom>
          <a:noFill/>
          <a:ln>
            <a:noFill/>
          </a:ln>
        </p:spPr>
      </p:pic>
      <p:pic>
        <p:nvPicPr>
          <p:cNvPr id="153" name="Google Shape;153;p19" descr="image.png"/>
          <p:cNvPicPr preferRelativeResize="0"/>
          <p:nvPr/>
        </p:nvPicPr>
        <p:blipFill rotWithShape="1">
          <a:blip r:embed="rId4">
            <a:alphaModFix/>
          </a:blip>
          <a:srcRect/>
          <a:stretch/>
        </p:blipFill>
        <p:spPr>
          <a:xfrm>
            <a:off x="1809750" y="4048125"/>
            <a:ext cx="228600" cy="228600"/>
          </a:xfrm>
          <a:prstGeom prst="rect">
            <a:avLst/>
          </a:prstGeom>
          <a:noFill/>
          <a:ln>
            <a:noFill/>
          </a:ln>
        </p:spPr>
      </p:pic>
      <p:pic>
        <p:nvPicPr>
          <p:cNvPr id="154" name="Google Shape;154;p19" descr="image.png"/>
          <p:cNvPicPr preferRelativeResize="0"/>
          <p:nvPr/>
        </p:nvPicPr>
        <p:blipFill rotWithShape="1">
          <a:blip r:embed="rId5">
            <a:alphaModFix/>
          </a:blip>
          <a:srcRect/>
          <a:stretch/>
        </p:blipFill>
        <p:spPr>
          <a:xfrm>
            <a:off x="1809750" y="5200650"/>
            <a:ext cx="285750" cy="228600"/>
          </a:xfrm>
          <a:prstGeom prst="rect">
            <a:avLst/>
          </a:prstGeom>
          <a:noFill/>
          <a:ln>
            <a:noFill/>
          </a:ln>
        </p:spPr>
      </p:pic>
      <p:sp>
        <p:nvSpPr>
          <p:cNvPr id="155" name="Google Shape;155;p19"/>
          <p:cNvSpPr txBox="1"/>
          <p:nvPr/>
        </p:nvSpPr>
        <p:spPr>
          <a:xfrm>
            <a:off x="2571750" y="2209800"/>
            <a:ext cx="781050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121212"/>
                </a:solidFill>
                <a:latin typeface="DM Sans"/>
                <a:ea typeface="DM Sans"/>
                <a:cs typeface="DM Sans"/>
                <a:sym typeface="DM Sans"/>
              </a:rPr>
              <a:t>Max Iterations (M_outer): 20</a:t>
            </a:r>
            <a:endParaRPr/>
          </a:p>
        </p:txBody>
      </p:sp>
      <p:sp>
        <p:nvSpPr>
          <p:cNvPr id="156" name="Google Shape;156;p19"/>
          <p:cNvSpPr txBox="1"/>
          <p:nvPr/>
        </p:nvSpPr>
        <p:spPr>
          <a:xfrm>
            <a:off x="2571750" y="2657475"/>
            <a:ext cx="781050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121212"/>
                </a:solidFill>
                <a:latin typeface="DM Sans"/>
                <a:ea typeface="DM Sans"/>
                <a:cs typeface="DM Sans"/>
                <a:sym typeface="DM Sans"/>
              </a:rPr>
              <a:t>Initial Penalty (R0): 1.0</a:t>
            </a:r>
            <a:endParaRPr/>
          </a:p>
        </p:txBody>
      </p:sp>
      <p:sp>
        <p:nvSpPr>
          <p:cNvPr id="157" name="Google Shape;157;p19"/>
          <p:cNvSpPr txBox="1"/>
          <p:nvPr/>
        </p:nvSpPr>
        <p:spPr>
          <a:xfrm>
            <a:off x="2571750" y="3105150"/>
            <a:ext cx="781050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121212"/>
                </a:solidFill>
                <a:latin typeface="DM Sans"/>
                <a:ea typeface="DM Sans"/>
                <a:cs typeface="DM Sans"/>
                <a:sym typeface="DM Sans"/>
              </a:rPr>
              <a:t>Penalty Multiplier (c): 10.0</a:t>
            </a:r>
            <a:endParaRPr/>
          </a:p>
        </p:txBody>
      </p:sp>
      <p:sp>
        <p:nvSpPr>
          <p:cNvPr id="158" name="Google Shape;158;p19"/>
          <p:cNvSpPr txBox="1"/>
          <p:nvPr/>
        </p:nvSpPr>
        <p:spPr>
          <a:xfrm>
            <a:off x="2571750" y="3552825"/>
            <a:ext cx="781050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121212"/>
                </a:solidFill>
                <a:latin typeface="DM Sans"/>
                <a:ea typeface="DM Sans"/>
                <a:cs typeface="DM Sans"/>
                <a:sym typeface="DM Sans"/>
              </a:rPr>
              <a:t>Termination (eps_overall): 1e-6</a:t>
            </a:r>
            <a:endParaRPr/>
          </a:p>
        </p:txBody>
      </p:sp>
      <p:sp>
        <p:nvSpPr>
          <p:cNvPr id="159" name="Google Shape;159;p19"/>
          <p:cNvSpPr txBox="1"/>
          <p:nvPr/>
        </p:nvSpPr>
        <p:spPr>
          <a:xfrm>
            <a:off x="2571750" y="4257675"/>
            <a:ext cx="781050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121212"/>
                </a:solidFill>
                <a:latin typeface="DM Sans"/>
                <a:ea typeface="DM Sans"/>
                <a:cs typeface="DM Sans"/>
                <a:sym typeface="DM Sans"/>
              </a:rPr>
              <a:t>Max Iterations (M_inner): 50</a:t>
            </a:r>
            <a:endParaRPr/>
          </a:p>
        </p:txBody>
      </p:sp>
      <p:sp>
        <p:nvSpPr>
          <p:cNvPr id="160" name="Google Shape;160;p19"/>
          <p:cNvSpPr txBox="1"/>
          <p:nvPr/>
        </p:nvSpPr>
        <p:spPr>
          <a:xfrm>
            <a:off x="2571750" y="4705350"/>
            <a:ext cx="781050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121212"/>
                </a:solidFill>
                <a:latin typeface="DM Sans"/>
                <a:ea typeface="DM Sans"/>
                <a:cs typeface="DM Sans"/>
                <a:sym typeface="DM Sans"/>
              </a:rPr>
              <a:t>Termination (eps_inner): 1e-6</a:t>
            </a:r>
            <a:endParaRPr/>
          </a:p>
        </p:txBody>
      </p:sp>
      <p:sp>
        <p:nvSpPr>
          <p:cNvPr id="161" name="Google Shape;161;p19"/>
          <p:cNvSpPr txBox="1"/>
          <p:nvPr/>
        </p:nvSpPr>
        <p:spPr>
          <a:xfrm>
            <a:off x="2571750" y="5410200"/>
            <a:ext cx="781050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121212"/>
                </a:solidFill>
                <a:latin typeface="DM Sans"/>
                <a:ea typeface="DM Sans"/>
                <a:cs typeface="DM Sans"/>
                <a:sym typeface="DM Sans"/>
              </a:rPr>
              <a:t>Termination (eps_1D): 1e-5</a:t>
            </a:r>
            <a:endParaRPr/>
          </a:p>
        </p:txBody>
      </p:sp>
      <p:sp>
        <p:nvSpPr>
          <p:cNvPr id="162" name="Google Shape;162;p19"/>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005088"/>
                </a:solidFill>
                <a:latin typeface="Merriweather"/>
                <a:ea typeface="Merriweather"/>
                <a:cs typeface="Merriweather"/>
                <a:sym typeface="Merriweather"/>
              </a:rPr>
              <a:t>Algorithm Parameter Settings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6"/>
        <p:cNvGrpSpPr/>
        <p:nvPr/>
      </p:nvGrpSpPr>
      <p:grpSpPr>
        <a:xfrm>
          <a:off x="0" y="0"/>
          <a:ext cx="0" cy="0"/>
          <a:chOff x="0" y="0"/>
          <a:chExt cx="0" cy="0"/>
        </a:xfrm>
      </p:grpSpPr>
      <p:sp>
        <p:nvSpPr>
          <p:cNvPr id="167" name="Google Shape;167;p20"/>
          <p:cNvSpPr txBox="1"/>
          <p:nvPr/>
        </p:nvSpPr>
        <p:spPr>
          <a:xfrm>
            <a:off x="3390661" y="2509837"/>
            <a:ext cx="5410676" cy="714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500" b="1" i="0" u="none" strike="noStrike" cap="none">
                <a:solidFill>
                  <a:srgbClr val="005088"/>
                </a:solidFill>
                <a:latin typeface="Merriweather"/>
                <a:ea typeface="Merriweather"/>
                <a:cs typeface="Merriweather"/>
                <a:sym typeface="Merriweather"/>
              </a:rPr>
              <a:t>Results: Problem 1</a:t>
            </a:r>
            <a:endParaRPr/>
          </a:p>
        </p:txBody>
      </p:sp>
      <p:sp>
        <p:nvSpPr>
          <p:cNvPr id="168" name="Google Shape;168;p20"/>
          <p:cNvSpPr/>
          <p:nvPr/>
        </p:nvSpPr>
        <p:spPr>
          <a:xfrm>
            <a:off x="5619750" y="3700462"/>
            <a:ext cx="952500" cy="47625"/>
          </a:xfrm>
          <a:prstGeom prst="rect">
            <a:avLst/>
          </a:prstGeom>
          <a:solidFill>
            <a:srgbClr val="11CA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9" name="Google Shape;169;p20"/>
          <p:cNvSpPr txBox="1"/>
          <p:nvPr/>
        </p:nvSpPr>
        <p:spPr>
          <a:xfrm>
            <a:off x="4753123" y="4033837"/>
            <a:ext cx="2685752" cy="3143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0" i="0" u="none" strike="noStrike" cap="none">
                <a:solidFill>
                  <a:srgbClr val="121212"/>
                </a:solidFill>
                <a:latin typeface="DM Sans"/>
                <a:ea typeface="DM Sans"/>
                <a:cs typeface="DM Sans"/>
                <a:sym typeface="DM Sans"/>
              </a:rPr>
              <a:t>min f(x) = (x₁-10)³ + (x₂-20)³</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3"/>
        <p:cNvGrpSpPr/>
        <p:nvPr/>
      </p:nvGrpSpPr>
      <p:grpSpPr>
        <a:xfrm>
          <a:off x="0" y="0"/>
          <a:ext cx="0" cy="0"/>
          <a:chOff x="0" y="0"/>
          <a:chExt cx="0" cy="0"/>
        </a:xfrm>
      </p:grpSpPr>
      <p:graphicFrame>
        <p:nvGraphicFramePr>
          <p:cNvPr id="174" name="Google Shape;174;p21"/>
          <p:cNvGraphicFramePr/>
          <p:nvPr/>
        </p:nvGraphicFramePr>
        <p:xfrm>
          <a:off x="571500" y="1762125"/>
          <a:ext cx="3000000" cy="3000000"/>
        </p:xfrm>
        <a:graphic>
          <a:graphicData uri="http://schemas.openxmlformats.org/drawingml/2006/table">
            <a:tbl>
              <a:tblPr firstRow="1" bandRow="1">
                <a:noFill/>
                <a:tableStyleId>{FD27073D-2863-4D9E-8CA5-1BB38697C2BA}</a:tableStyleId>
              </a:tblPr>
              <a:tblGrid>
                <a:gridCol w="5540425">
                  <a:extLst>
                    <a:ext uri="{9D8B030D-6E8A-4147-A177-3AD203B41FA5}">
                      <a16:colId xmlns:a16="http://schemas.microsoft.com/office/drawing/2014/main" val="20000"/>
                    </a:ext>
                  </a:extLst>
                </a:gridCol>
                <a:gridCol w="5508575">
                  <a:extLst>
                    <a:ext uri="{9D8B030D-6E8A-4147-A177-3AD203B41FA5}">
                      <a16:colId xmlns:a16="http://schemas.microsoft.com/office/drawing/2014/main" val="20001"/>
                    </a:ext>
                  </a:extLst>
                </a:gridCol>
              </a:tblGrid>
              <a:tr h="612325">
                <a:tc>
                  <a:txBody>
                    <a:bodyPr/>
                    <a:lstStyle/>
                    <a:p>
                      <a:pPr marL="0" marR="0" lvl="0" indent="0" algn="l" rtl="0">
                        <a:spcBef>
                          <a:spcPts val="0"/>
                        </a:spcBef>
                        <a:spcAft>
                          <a:spcPts val="0"/>
                        </a:spcAft>
                        <a:buNone/>
                      </a:pPr>
                      <a:r>
                        <a:rPr lang="en-US" sz="1500" b="1" i="0" u="none" strike="noStrike" cap="none">
                          <a:solidFill>
                            <a:srgbClr val="005088"/>
                          </a:solidFill>
                          <a:latin typeface="Merriweather"/>
                          <a:ea typeface="Merriweather"/>
                          <a:cs typeface="Merriweather"/>
                          <a:sym typeface="Merriweather"/>
                        </a:rPr>
                        <a:t>Statistic</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5F5F5"/>
                    </a:solidFill>
                  </a:tcPr>
                </a:tc>
                <a:tc>
                  <a:txBody>
                    <a:bodyPr/>
                    <a:lstStyle/>
                    <a:p>
                      <a:pPr marL="0" marR="0" lvl="0" indent="0" algn="l" rtl="0">
                        <a:spcBef>
                          <a:spcPts val="0"/>
                        </a:spcBef>
                        <a:spcAft>
                          <a:spcPts val="0"/>
                        </a:spcAft>
                        <a:buNone/>
                      </a:pPr>
                      <a:r>
                        <a:rPr lang="en-US" sz="1500" b="1" i="0" u="none" strike="noStrike" cap="none">
                          <a:solidFill>
                            <a:srgbClr val="005088"/>
                          </a:solidFill>
                          <a:latin typeface="Merriweather"/>
                          <a:ea typeface="Merriweather"/>
                          <a:cs typeface="Merriweather"/>
                          <a:sym typeface="Merriweather"/>
                        </a:rPr>
                        <a:t>Value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5F5F5"/>
                    </a:solidFill>
                  </a:tcPr>
                </a:tc>
                <a:extLst>
                  <a:ext uri="{0D108BD9-81ED-4DB2-BD59-A6C34878D82A}">
                    <a16:rowId xmlns:a16="http://schemas.microsoft.com/office/drawing/2014/main" val="10000"/>
                  </a:ext>
                </a:extLst>
              </a:tr>
              <a:tr h="612325">
                <a:tc>
                  <a:txBody>
                    <a:bodyPr/>
                    <a:lstStyle/>
                    <a:p>
                      <a:pPr marL="0" marR="0" lvl="0" indent="0" algn="l" rtl="0">
                        <a:spcBef>
                          <a:spcPts val="0"/>
                        </a:spcBef>
                        <a:spcAft>
                          <a:spcPts val="0"/>
                        </a:spcAft>
                        <a:buNone/>
                      </a:pPr>
                      <a:r>
                        <a:rPr lang="en-US" sz="1350" b="1" i="0" u="none" strike="noStrike" cap="none">
                          <a:solidFill>
                            <a:srgbClr val="005088"/>
                          </a:solidFill>
                          <a:latin typeface="DM Sans"/>
                          <a:ea typeface="DM Sans"/>
                          <a:cs typeface="DM Sans"/>
                          <a:sym typeface="DM Sans"/>
                        </a:rPr>
                        <a:t>Best f(x*)</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121212"/>
                          </a:solidFill>
                          <a:latin typeface="DM Sans"/>
                          <a:ea typeface="DM Sans"/>
                          <a:cs typeface="DM Sans"/>
                          <a:sym typeface="DM Sans"/>
                        </a:rPr>
                        <a:t>-6959.8139</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12325">
                <a:tc>
                  <a:txBody>
                    <a:bodyPr/>
                    <a:lstStyle/>
                    <a:p>
                      <a:pPr marL="0" marR="0" lvl="0" indent="0" algn="l" rtl="0">
                        <a:spcBef>
                          <a:spcPts val="0"/>
                        </a:spcBef>
                        <a:spcAft>
                          <a:spcPts val="0"/>
                        </a:spcAft>
                        <a:buNone/>
                      </a:pPr>
                      <a:r>
                        <a:rPr lang="en-US" sz="1350" b="1" i="0" u="none" strike="noStrike" cap="none">
                          <a:solidFill>
                            <a:srgbClr val="005088"/>
                          </a:solidFill>
                          <a:latin typeface="DM Sans"/>
                          <a:ea typeface="DM Sans"/>
                          <a:cs typeface="DM Sans"/>
                          <a:sym typeface="DM Sans"/>
                        </a:rPr>
                        <a:t>Worst f(x*)</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121212"/>
                          </a:solidFill>
                          <a:latin typeface="DM Sans"/>
                          <a:ea typeface="DM Sans"/>
                          <a:cs typeface="DM Sans"/>
                          <a:sym typeface="DM Sans"/>
                        </a:rPr>
                        <a:t>-6952.14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612325">
                <a:tc>
                  <a:txBody>
                    <a:bodyPr/>
                    <a:lstStyle/>
                    <a:p>
                      <a:pPr marL="0" marR="0" lvl="0" indent="0" algn="l" rtl="0">
                        <a:spcBef>
                          <a:spcPts val="0"/>
                        </a:spcBef>
                        <a:spcAft>
                          <a:spcPts val="0"/>
                        </a:spcAft>
                        <a:buNone/>
                      </a:pPr>
                      <a:r>
                        <a:rPr lang="en-US" sz="1350" b="1" i="0" u="none" strike="noStrike" cap="none">
                          <a:solidFill>
                            <a:srgbClr val="005088"/>
                          </a:solidFill>
                          <a:latin typeface="DM Sans"/>
                          <a:ea typeface="DM Sans"/>
                          <a:cs typeface="DM Sans"/>
                          <a:sym typeface="DM Sans"/>
                        </a:rPr>
                        <a:t>Mean f(x*)</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121212"/>
                          </a:solidFill>
                          <a:latin typeface="DM Sans"/>
                          <a:ea typeface="DM Sans"/>
                          <a:cs typeface="DM Sans"/>
                          <a:sym typeface="DM Sans"/>
                        </a:rPr>
                        <a:t>-6957.2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612325">
                <a:tc>
                  <a:txBody>
                    <a:bodyPr/>
                    <a:lstStyle/>
                    <a:p>
                      <a:pPr marL="0" marR="0" lvl="0" indent="0" algn="l" rtl="0">
                        <a:spcBef>
                          <a:spcPts val="0"/>
                        </a:spcBef>
                        <a:spcAft>
                          <a:spcPts val="0"/>
                        </a:spcAft>
                        <a:buNone/>
                      </a:pPr>
                      <a:r>
                        <a:rPr lang="en-US" sz="1350" b="1" i="0" u="none" strike="noStrike" cap="none">
                          <a:solidFill>
                            <a:srgbClr val="005088"/>
                          </a:solidFill>
                          <a:latin typeface="DM Sans"/>
                          <a:ea typeface="DM Sans"/>
                          <a:cs typeface="DM Sans"/>
                          <a:sym typeface="DM Sans"/>
                        </a:rPr>
                        <a:t>Median f(x*)</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121212"/>
                          </a:solidFill>
                          <a:latin typeface="DM Sans"/>
                          <a:ea typeface="DM Sans"/>
                          <a:cs typeface="DM Sans"/>
                          <a:sym typeface="DM Sans"/>
                        </a:rPr>
                        <a:t>-6957.5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612325">
                <a:tc>
                  <a:txBody>
                    <a:bodyPr/>
                    <a:lstStyle/>
                    <a:p>
                      <a:pPr marL="0" marR="0" lvl="0" indent="0" algn="l" rtl="0">
                        <a:spcBef>
                          <a:spcPts val="0"/>
                        </a:spcBef>
                        <a:spcAft>
                          <a:spcPts val="0"/>
                        </a:spcAft>
                        <a:buNone/>
                      </a:pPr>
                      <a:r>
                        <a:rPr lang="en-US" sz="1350" b="1" i="0" u="none" strike="noStrike" cap="none">
                          <a:solidFill>
                            <a:srgbClr val="005088"/>
                          </a:solidFill>
                          <a:latin typeface="DM Sans"/>
                          <a:ea typeface="DM Sans"/>
                          <a:cs typeface="DM Sans"/>
                          <a:sym typeface="DM Sans"/>
                        </a:rPr>
                        <a:t>Std. Deviation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121212"/>
                          </a:solidFill>
                          <a:latin typeface="DM Sans"/>
                          <a:ea typeface="DM Sans"/>
                          <a:cs typeface="DM Sans"/>
                          <a:sym typeface="DM Sans"/>
                        </a:rPr>
                        <a:t>2.81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612325">
                <a:tc>
                  <a:txBody>
                    <a:bodyPr/>
                    <a:lstStyle/>
                    <a:p>
                      <a:pPr marL="0" marR="0" lvl="0" indent="0" algn="l" rtl="0">
                        <a:spcBef>
                          <a:spcPts val="0"/>
                        </a:spcBef>
                        <a:spcAft>
                          <a:spcPts val="0"/>
                        </a:spcAft>
                        <a:buNone/>
                      </a:pPr>
                      <a:r>
                        <a:rPr lang="en-US" sz="1350" b="1" i="0" u="none" strike="noStrike" cap="none">
                          <a:solidFill>
                            <a:srgbClr val="005088"/>
                          </a:solidFill>
                          <a:latin typeface="DM Sans"/>
                          <a:ea typeface="DM Sans"/>
                          <a:cs typeface="DM Sans"/>
                          <a:sym typeface="DM Sans"/>
                        </a:rPr>
                        <a:t>Best x*</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121212"/>
                          </a:solidFill>
                          <a:latin typeface="DM Sans"/>
                          <a:ea typeface="DM Sans"/>
                          <a:cs typeface="DM Sans"/>
                          <a:sym typeface="DM Sans"/>
                        </a:rPr>
                        <a:t>(14.095, 0.843)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
        <p:nvSpPr>
          <p:cNvPr id="175" name="Google Shape;175;p21"/>
          <p:cNvSpPr/>
          <p:nvPr/>
        </p:nvSpPr>
        <p:spPr>
          <a:xfrm>
            <a:off x="571500" y="2386012"/>
            <a:ext cx="5540424" cy="952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6" name="Google Shape;176;p21"/>
          <p:cNvSpPr/>
          <p:nvPr/>
        </p:nvSpPr>
        <p:spPr>
          <a:xfrm>
            <a:off x="6111924" y="2386012"/>
            <a:ext cx="5508575" cy="952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7" name="Google Shape;177;p21"/>
          <p:cNvSpPr/>
          <p:nvPr/>
        </p:nvSpPr>
        <p:spPr>
          <a:xfrm>
            <a:off x="571500" y="2995612"/>
            <a:ext cx="5540424" cy="952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8" name="Google Shape;178;p21"/>
          <p:cNvSpPr/>
          <p:nvPr/>
        </p:nvSpPr>
        <p:spPr>
          <a:xfrm>
            <a:off x="6111924" y="2995612"/>
            <a:ext cx="5508575" cy="952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9" name="Google Shape;179;p21"/>
          <p:cNvSpPr/>
          <p:nvPr/>
        </p:nvSpPr>
        <p:spPr>
          <a:xfrm>
            <a:off x="571500" y="3605212"/>
            <a:ext cx="5540424" cy="952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0" name="Google Shape;180;p21"/>
          <p:cNvSpPr/>
          <p:nvPr/>
        </p:nvSpPr>
        <p:spPr>
          <a:xfrm>
            <a:off x="6111924" y="3605212"/>
            <a:ext cx="5508575" cy="952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1" name="Google Shape;181;p21"/>
          <p:cNvSpPr/>
          <p:nvPr/>
        </p:nvSpPr>
        <p:spPr>
          <a:xfrm>
            <a:off x="571500" y="4214812"/>
            <a:ext cx="5540424" cy="952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2" name="Google Shape;182;p21"/>
          <p:cNvSpPr/>
          <p:nvPr/>
        </p:nvSpPr>
        <p:spPr>
          <a:xfrm>
            <a:off x="6111924" y="4214812"/>
            <a:ext cx="5508575" cy="952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3" name="Google Shape;183;p21"/>
          <p:cNvSpPr/>
          <p:nvPr/>
        </p:nvSpPr>
        <p:spPr>
          <a:xfrm>
            <a:off x="571500" y="4824412"/>
            <a:ext cx="5540424" cy="952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4" name="Google Shape;184;p21"/>
          <p:cNvSpPr/>
          <p:nvPr/>
        </p:nvSpPr>
        <p:spPr>
          <a:xfrm>
            <a:off x="6111924" y="4824412"/>
            <a:ext cx="5508575" cy="952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5" name="Google Shape;185;p21"/>
          <p:cNvSpPr/>
          <p:nvPr/>
        </p:nvSpPr>
        <p:spPr>
          <a:xfrm>
            <a:off x="571500" y="5434012"/>
            <a:ext cx="5540424" cy="952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6" name="Google Shape;186;p21"/>
          <p:cNvSpPr/>
          <p:nvPr/>
        </p:nvSpPr>
        <p:spPr>
          <a:xfrm>
            <a:off x="6111924" y="5434012"/>
            <a:ext cx="5508575" cy="952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7" name="Google Shape;187;p21"/>
          <p:cNvSpPr txBox="1"/>
          <p:nvPr/>
        </p:nvSpPr>
        <p:spPr>
          <a:xfrm>
            <a:off x="571500" y="571500"/>
            <a:ext cx="11601600" cy="554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600" b="1" i="0" u="none" strike="noStrike" cap="none">
                <a:solidFill>
                  <a:srgbClr val="005088"/>
                </a:solidFill>
                <a:latin typeface="Merriweather"/>
                <a:ea typeface="Merriweather"/>
                <a:cs typeface="Merriweather"/>
                <a:sym typeface="Merriweather"/>
              </a:rPr>
              <a:t>Problem 1: 10-Run Statistics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1"/>
        <p:cNvGrpSpPr/>
        <p:nvPr/>
      </p:nvGrpSpPr>
      <p:grpSpPr>
        <a:xfrm>
          <a:off x="0" y="0"/>
          <a:ext cx="0" cy="0"/>
          <a:chOff x="0" y="0"/>
          <a:chExt cx="0" cy="0"/>
        </a:xfrm>
      </p:grpSpPr>
      <p:pic>
        <p:nvPicPr>
          <p:cNvPr id="192" name="Google Shape;192;p22" descr="image.png"/>
          <p:cNvPicPr preferRelativeResize="0"/>
          <p:nvPr/>
        </p:nvPicPr>
        <p:blipFill rotWithShape="1">
          <a:blip r:embed="rId3">
            <a:alphaModFix/>
          </a:blip>
          <a:srcRect/>
          <a:stretch/>
        </p:blipFill>
        <p:spPr>
          <a:xfrm>
            <a:off x="571500" y="1473547"/>
            <a:ext cx="11049000" cy="4863405"/>
          </a:xfrm>
          <a:prstGeom prst="rect">
            <a:avLst/>
          </a:prstGeom>
          <a:noFill/>
          <a:ln>
            <a:noFill/>
          </a:ln>
        </p:spPr>
      </p:pic>
      <p:sp>
        <p:nvSpPr>
          <p:cNvPr id="193" name="Google Shape;193;p22"/>
          <p:cNvSpPr txBox="1"/>
          <p:nvPr/>
        </p:nvSpPr>
        <p:spPr>
          <a:xfrm>
            <a:off x="571500" y="521047"/>
            <a:ext cx="116016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005088"/>
                </a:solidFill>
                <a:latin typeface="Merriweather"/>
                <a:ea typeface="Merriweather"/>
                <a:cs typeface="Merriweather"/>
                <a:sym typeface="Merriweather"/>
              </a:rPr>
              <a:t>Problem 1: Convergence of f(x) (Best Run)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7"/>
        <p:cNvGrpSpPr/>
        <p:nvPr/>
      </p:nvGrpSpPr>
      <p:grpSpPr>
        <a:xfrm>
          <a:off x="0" y="0"/>
          <a:ext cx="0" cy="0"/>
          <a:chOff x="0" y="0"/>
          <a:chExt cx="0" cy="0"/>
        </a:xfrm>
      </p:grpSpPr>
      <p:pic>
        <p:nvPicPr>
          <p:cNvPr id="198" name="Google Shape;198;p23" descr="image.png"/>
          <p:cNvPicPr preferRelativeResize="0"/>
          <p:nvPr/>
        </p:nvPicPr>
        <p:blipFill rotWithShape="1">
          <a:blip r:embed="rId3">
            <a:alphaModFix/>
          </a:blip>
          <a:srcRect/>
          <a:stretch/>
        </p:blipFill>
        <p:spPr>
          <a:xfrm>
            <a:off x="571500" y="1344959"/>
            <a:ext cx="11049000" cy="5120580"/>
          </a:xfrm>
          <a:prstGeom prst="rect">
            <a:avLst/>
          </a:prstGeom>
          <a:noFill/>
          <a:ln>
            <a:noFill/>
          </a:ln>
        </p:spPr>
      </p:pic>
      <p:sp>
        <p:nvSpPr>
          <p:cNvPr id="199" name="Google Shape;199;p23"/>
          <p:cNvSpPr txBox="1"/>
          <p:nvPr/>
        </p:nvSpPr>
        <p:spPr>
          <a:xfrm>
            <a:off x="571500" y="392459"/>
            <a:ext cx="116016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005088"/>
                </a:solidFill>
                <a:latin typeface="Merriweather"/>
                <a:ea typeface="Merriweather"/>
                <a:cs typeface="Merriweather"/>
                <a:sym typeface="Merriweather"/>
              </a:rPr>
              <a:t>Problem 1: Computational Cost (Best Run)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3"/>
        <p:cNvGrpSpPr/>
        <p:nvPr/>
      </p:nvGrpSpPr>
      <p:grpSpPr>
        <a:xfrm>
          <a:off x="0" y="0"/>
          <a:ext cx="0" cy="0"/>
          <a:chOff x="0" y="0"/>
          <a:chExt cx="0" cy="0"/>
        </a:xfrm>
      </p:grpSpPr>
      <p:sp>
        <p:nvSpPr>
          <p:cNvPr id="204" name="Google Shape;204;p24"/>
          <p:cNvSpPr txBox="1"/>
          <p:nvPr/>
        </p:nvSpPr>
        <p:spPr>
          <a:xfrm>
            <a:off x="3355657" y="2509837"/>
            <a:ext cx="5480685" cy="714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500" b="1" i="0" u="none" strike="noStrike" cap="none">
                <a:solidFill>
                  <a:srgbClr val="005088"/>
                </a:solidFill>
                <a:latin typeface="Merriweather"/>
                <a:ea typeface="Merriweather"/>
                <a:cs typeface="Merriweather"/>
                <a:sym typeface="Merriweather"/>
              </a:rPr>
              <a:t>Results: Problem 2</a:t>
            </a:r>
            <a:endParaRPr/>
          </a:p>
        </p:txBody>
      </p:sp>
      <p:sp>
        <p:nvSpPr>
          <p:cNvPr id="205" name="Google Shape;205;p24"/>
          <p:cNvSpPr/>
          <p:nvPr/>
        </p:nvSpPr>
        <p:spPr>
          <a:xfrm>
            <a:off x="5619750" y="3700462"/>
            <a:ext cx="952500" cy="47625"/>
          </a:xfrm>
          <a:prstGeom prst="rect">
            <a:avLst/>
          </a:prstGeom>
          <a:solidFill>
            <a:srgbClr val="11CA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6" name="Google Shape;206;p24"/>
          <p:cNvSpPr txBox="1"/>
          <p:nvPr/>
        </p:nvSpPr>
        <p:spPr>
          <a:xfrm>
            <a:off x="4063751" y="4033837"/>
            <a:ext cx="4064496" cy="3143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0" i="0" u="none" strike="noStrike" cap="none">
                <a:solidFill>
                  <a:srgbClr val="121212"/>
                </a:solidFill>
                <a:latin typeface="DM Sans"/>
                <a:ea typeface="DM Sans"/>
                <a:cs typeface="DM Sans"/>
                <a:sym typeface="DM Sans"/>
              </a:rPr>
              <a:t>max f(x) = sin³(2πx₁)sin(2πx₂) / (x₁³(x₁+x₂))</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0"/>
        <p:cNvGrpSpPr/>
        <p:nvPr/>
      </p:nvGrpSpPr>
      <p:grpSpPr>
        <a:xfrm>
          <a:off x="0" y="0"/>
          <a:ext cx="0" cy="0"/>
          <a:chOff x="0" y="0"/>
          <a:chExt cx="0" cy="0"/>
        </a:xfrm>
      </p:grpSpPr>
      <p:graphicFrame>
        <p:nvGraphicFramePr>
          <p:cNvPr id="211" name="Google Shape;211;p25"/>
          <p:cNvGraphicFramePr/>
          <p:nvPr/>
        </p:nvGraphicFramePr>
        <p:xfrm>
          <a:off x="571500" y="1762125"/>
          <a:ext cx="3000000" cy="3000000"/>
        </p:xfrm>
        <a:graphic>
          <a:graphicData uri="http://schemas.openxmlformats.org/drawingml/2006/table">
            <a:tbl>
              <a:tblPr firstRow="1" bandRow="1">
                <a:noFill/>
                <a:tableStyleId>{FD27073D-2863-4D9E-8CA5-1BB38697C2BA}</a:tableStyleId>
              </a:tblPr>
              <a:tblGrid>
                <a:gridCol w="5809950">
                  <a:extLst>
                    <a:ext uri="{9D8B030D-6E8A-4147-A177-3AD203B41FA5}">
                      <a16:colId xmlns:a16="http://schemas.microsoft.com/office/drawing/2014/main" val="20000"/>
                    </a:ext>
                  </a:extLst>
                </a:gridCol>
                <a:gridCol w="5239050">
                  <a:extLst>
                    <a:ext uri="{9D8B030D-6E8A-4147-A177-3AD203B41FA5}">
                      <a16:colId xmlns:a16="http://schemas.microsoft.com/office/drawing/2014/main" val="20001"/>
                    </a:ext>
                  </a:extLst>
                </a:gridCol>
              </a:tblGrid>
              <a:tr h="612325">
                <a:tc>
                  <a:txBody>
                    <a:bodyPr/>
                    <a:lstStyle/>
                    <a:p>
                      <a:pPr marL="0" marR="0" lvl="0" indent="0" algn="l" rtl="0">
                        <a:spcBef>
                          <a:spcPts val="0"/>
                        </a:spcBef>
                        <a:spcAft>
                          <a:spcPts val="0"/>
                        </a:spcAft>
                        <a:buNone/>
                      </a:pPr>
                      <a:r>
                        <a:rPr lang="en-US" sz="1500" b="1" i="0" u="none" strike="noStrike" cap="none">
                          <a:solidFill>
                            <a:srgbClr val="005088"/>
                          </a:solidFill>
                          <a:latin typeface="Merriweather"/>
                          <a:ea typeface="Merriweather"/>
                          <a:cs typeface="Merriweather"/>
                          <a:sym typeface="Merriweather"/>
                        </a:rPr>
                        <a:t>Statistic</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5F5F5"/>
                    </a:solidFill>
                  </a:tcPr>
                </a:tc>
                <a:tc>
                  <a:txBody>
                    <a:bodyPr/>
                    <a:lstStyle/>
                    <a:p>
                      <a:pPr marL="0" marR="0" lvl="0" indent="0" algn="l" rtl="0">
                        <a:spcBef>
                          <a:spcPts val="0"/>
                        </a:spcBef>
                        <a:spcAft>
                          <a:spcPts val="0"/>
                        </a:spcAft>
                        <a:buNone/>
                      </a:pPr>
                      <a:r>
                        <a:rPr lang="en-US" sz="1500" b="1" i="0" u="none" strike="noStrike" cap="none">
                          <a:solidFill>
                            <a:srgbClr val="005088"/>
                          </a:solidFill>
                          <a:latin typeface="Merriweather"/>
                          <a:ea typeface="Merriweather"/>
                          <a:cs typeface="Merriweather"/>
                          <a:sym typeface="Merriweather"/>
                        </a:rPr>
                        <a:t>Value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5F5F5"/>
                    </a:solidFill>
                  </a:tcPr>
                </a:tc>
                <a:extLst>
                  <a:ext uri="{0D108BD9-81ED-4DB2-BD59-A6C34878D82A}">
                    <a16:rowId xmlns:a16="http://schemas.microsoft.com/office/drawing/2014/main" val="10000"/>
                  </a:ext>
                </a:extLst>
              </a:tr>
              <a:tr h="612325">
                <a:tc>
                  <a:txBody>
                    <a:bodyPr/>
                    <a:lstStyle/>
                    <a:p>
                      <a:pPr marL="0" marR="0" lvl="0" indent="0" algn="l" rtl="0">
                        <a:spcBef>
                          <a:spcPts val="0"/>
                        </a:spcBef>
                        <a:spcAft>
                          <a:spcPts val="0"/>
                        </a:spcAft>
                        <a:buNone/>
                      </a:pPr>
                      <a:r>
                        <a:rPr lang="en-US" sz="1350" b="1" i="0" u="none" strike="noStrike" cap="none">
                          <a:solidFill>
                            <a:srgbClr val="005088"/>
                          </a:solidFill>
                          <a:latin typeface="DM Sans"/>
                          <a:ea typeface="DM Sans"/>
                          <a:cs typeface="DM Sans"/>
                          <a:sym typeface="DM Sans"/>
                        </a:rPr>
                        <a:t>Best f(x*)</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121212"/>
                          </a:solidFill>
                          <a:latin typeface="DM Sans"/>
                          <a:ea typeface="DM Sans"/>
                          <a:cs typeface="DM Sans"/>
                          <a:sym typeface="DM Sans"/>
                        </a:rPr>
                        <a:t>0.095825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12325">
                <a:tc>
                  <a:txBody>
                    <a:bodyPr/>
                    <a:lstStyle/>
                    <a:p>
                      <a:pPr marL="0" marR="0" lvl="0" indent="0" algn="l" rtl="0">
                        <a:spcBef>
                          <a:spcPts val="0"/>
                        </a:spcBef>
                        <a:spcAft>
                          <a:spcPts val="0"/>
                        </a:spcAft>
                        <a:buNone/>
                      </a:pPr>
                      <a:r>
                        <a:rPr lang="en-US" sz="1350" b="1" i="0" u="none" strike="noStrike" cap="none">
                          <a:solidFill>
                            <a:srgbClr val="005088"/>
                          </a:solidFill>
                          <a:latin typeface="DM Sans"/>
                          <a:ea typeface="DM Sans"/>
                          <a:cs typeface="DM Sans"/>
                          <a:sym typeface="DM Sans"/>
                        </a:rPr>
                        <a:t>Worst f(x*)</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121212"/>
                          </a:solidFill>
                          <a:latin typeface="DM Sans"/>
                          <a:ea typeface="DM Sans"/>
                          <a:cs typeface="DM Sans"/>
                          <a:sym typeface="DM Sans"/>
                        </a:rPr>
                        <a:t>0.094110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612325">
                <a:tc>
                  <a:txBody>
                    <a:bodyPr/>
                    <a:lstStyle/>
                    <a:p>
                      <a:pPr marL="0" marR="0" lvl="0" indent="0" algn="l" rtl="0">
                        <a:spcBef>
                          <a:spcPts val="0"/>
                        </a:spcBef>
                        <a:spcAft>
                          <a:spcPts val="0"/>
                        </a:spcAft>
                        <a:buNone/>
                      </a:pPr>
                      <a:r>
                        <a:rPr lang="en-US" sz="1350" b="1" i="0" u="none" strike="noStrike" cap="none">
                          <a:solidFill>
                            <a:srgbClr val="005088"/>
                          </a:solidFill>
                          <a:latin typeface="DM Sans"/>
                          <a:ea typeface="DM Sans"/>
                          <a:cs typeface="DM Sans"/>
                          <a:sym typeface="DM Sans"/>
                        </a:rPr>
                        <a:t>Mean f(x*)</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121212"/>
                          </a:solidFill>
                          <a:latin typeface="DM Sans"/>
                          <a:ea typeface="DM Sans"/>
                          <a:cs typeface="DM Sans"/>
                          <a:sym typeface="DM Sans"/>
                        </a:rPr>
                        <a:t>0.095240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612325">
                <a:tc>
                  <a:txBody>
                    <a:bodyPr/>
                    <a:lstStyle/>
                    <a:p>
                      <a:pPr marL="0" marR="0" lvl="0" indent="0" algn="l" rtl="0">
                        <a:spcBef>
                          <a:spcPts val="0"/>
                        </a:spcBef>
                        <a:spcAft>
                          <a:spcPts val="0"/>
                        </a:spcAft>
                        <a:buNone/>
                      </a:pPr>
                      <a:r>
                        <a:rPr lang="en-US" sz="1350" b="1" i="0" u="none" strike="noStrike" cap="none">
                          <a:solidFill>
                            <a:srgbClr val="005088"/>
                          </a:solidFill>
                          <a:latin typeface="DM Sans"/>
                          <a:ea typeface="DM Sans"/>
                          <a:cs typeface="DM Sans"/>
                          <a:sym typeface="DM Sans"/>
                        </a:rPr>
                        <a:t>Median f(x*)</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121212"/>
                          </a:solidFill>
                          <a:latin typeface="DM Sans"/>
                          <a:ea typeface="DM Sans"/>
                          <a:cs typeface="DM Sans"/>
                          <a:sym typeface="DM Sans"/>
                        </a:rPr>
                        <a:t>0.095310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612325">
                <a:tc>
                  <a:txBody>
                    <a:bodyPr/>
                    <a:lstStyle/>
                    <a:p>
                      <a:pPr marL="0" marR="0" lvl="0" indent="0" algn="l" rtl="0">
                        <a:spcBef>
                          <a:spcPts val="0"/>
                        </a:spcBef>
                        <a:spcAft>
                          <a:spcPts val="0"/>
                        </a:spcAft>
                        <a:buNone/>
                      </a:pPr>
                      <a:r>
                        <a:rPr lang="en-US" sz="1350" b="1" i="0" u="none" strike="noStrike" cap="none">
                          <a:solidFill>
                            <a:srgbClr val="005088"/>
                          </a:solidFill>
                          <a:latin typeface="DM Sans"/>
                          <a:ea typeface="DM Sans"/>
                          <a:cs typeface="DM Sans"/>
                          <a:sym typeface="DM Sans"/>
                        </a:rPr>
                        <a:t>Std. Deviation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121212"/>
                          </a:solidFill>
                          <a:latin typeface="DM Sans"/>
                          <a:ea typeface="DM Sans"/>
                          <a:cs typeface="DM Sans"/>
                          <a:sym typeface="DM Sans"/>
                        </a:rPr>
                        <a:t>0.00052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612325">
                <a:tc>
                  <a:txBody>
                    <a:bodyPr/>
                    <a:lstStyle/>
                    <a:p>
                      <a:pPr marL="0" marR="0" lvl="0" indent="0" algn="l" rtl="0">
                        <a:spcBef>
                          <a:spcPts val="0"/>
                        </a:spcBef>
                        <a:spcAft>
                          <a:spcPts val="0"/>
                        </a:spcAft>
                        <a:buNone/>
                      </a:pPr>
                      <a:r>
                        <a:rPr lang="en-US" sz="1350" b="1" i="0" u="none" strike="noStrike" cap="none">
                          <a:solidFill>
                            <a:srgbClr val="005088"/>
                          </a:solidFill>
                          <a:latin typeface="DM Sans"/>
                          <a:ea typeface="DM Sans"/>
                          <a:cs typeface="DM Sans"/>
                          <a:sym typeface="DM Sans"/>
                        </a:rPr>
                        <a:t>Best x*</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121212"/>
                          </a:solidFill>
                          <a:latin typeface="DM Sans"/>
                          <a:ea typeface="DM Sans"/>
                          <a:cs typeface="DM Sans"/>
                          <a:sym typeface="DM Sans"/>
                        </a:rPr>
                        <a:t>(1.227, 4.245)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
        <p:nvSpPr>
          <p:cNvPr id="212" name="Google Shape;212;p25"/>
          <p:cNvSpPr/>
          <p:nvPr/>
        </p:nvSpPr>
        <p:spPr>
          <a:xfrm>
            <a:off x="571500" y="2386012"/>
            <a:ext cx="5809952" cy="952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3" name="Google Shape;213;p25"/>
          <p:cNvSpPr/>
          <p:nvPr/>
        </p:nvSpPr>
        <p:spPr>
          <a:xfrm>
            <a:off x="6381452" y="2386012"/>
            <a:ext cx="5239047" cy="952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4" name="Google Shape;214;p25"/>
          <p:cNvSpPr/>
          <p:nvPr/>
        </p:nvSpPr>
        <p:spPr>
          <a:xfrm>
            <a:off x="571500" y="2995612"/>
            <a:ext cx="5809952" cy="952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5" name="Google Shape;215;p25"/>
          <p:cNvSpPr/>
          <p:nvPr/>
        </p:nvSpPr>
        <p:spPr>
          <a:xfrm>
            <a:off x="6381452" y="2995612"/>
            <a:ext cx="5239047" cy="952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6" name="Google Shape;216;p25"/>
          <p:cNvSpPr/>
          <p:nvPr/>
        </p:nvSpPr>
        <p:spPr>
          <a:xfrm>
            <a:off x="571500" y="3605212"/>
            <a:ext cx="5809952" cy="952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7" name="Google Shape;217;p25"/>
          <p:cNvSpPr/>
          <p:nvPr/>
        </p:nvSpPr>
        <p:spPr>
          <a:xfrm>
            <a:off x="6381452" y="3605212"/>
            <a:ext cx="5239047" cy="952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8" name="Google Shape;218;p25"/>
          <p:cNvSpPr/>
          <p:nvPr/>
        </p:nvSpPr>
        <p:spPr>
          <a:xfrm>
            <a:off x="571500" y="4214812"/>
            <a:ext cx="5809952" cy="952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9" name="Google Shape;219;p25"/>
          <p:cNvSpPr/>
          <p:nvPr/>
        </p:nvSpPr>
        <p:spPr>
          <a:xfrm>
            <a:off x="6381452" y="4214812"/>
            <a:ext cx="5239047" cy="952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0" name="Google Shape;220;p25"/>
          <p:cNvSpPr/>
          <p:nvPr/>
        </p:nvSpPr>
        <p:spPr>
          <a:xfrm>
            <a:off x="571500" y="4824412"/>
            <a:ext cx="5809952" cy="952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1" name="Google Shape;221;p25"/>
          <p:cNvSpPr/>
          <p:nvPr/>
        </p:nvSpPr>
        <p:spPr>
          <a:xfrm>
            <a:off x="6381452" y="4824412"/>
            <a:ext cx="5239047" cy="952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2" name="Google Shape;222;p25"/>
          <p:cNvSpPr/>
          <p:nvPr/>
        </p:nvSpPr>
        <p:spPr>
          <a:xfrm>
            <a:off x="571500" y="5434012"/>
            <a:ext cx="5809952" cy="952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3" name="Google Shape;223;p25"/>
          <p:cNvSpPr/>
          <p:nvPr/>
        </p:nvSpPr>
        <p:spPr>
          <a:xfrm>
            <a:off x="6381452" y="5434012"/>
            <a:ext cx="5239047" cy="952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4" name="Google Shape;224;p25"/>
          <p:cNvSpPr txBox="1"/>
          <p:nvPr/>
        </p:nvSpPr>
        <p:spPr>
          <a:xfrm>
            <a:off x="571500" y="571500"/>
            <a:ext cx="11601600" cy="554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600" b="1" i="0" u="none" strike="noStrike" cap="none">
                <a:solidFill>
                  <a:srgbClr val="005088"/>
                </a:solidFill>
                <a:latin typeface="Merriweather"/>
                <a:ea typeface="Merriweather"/>
                <a:cs typeface="Merriweather"/>
                <a:sym typeface="Merriweather"/>
              </a:rPr>
              <a:t>Problem 2: 10-Run Statistics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8"/>
        <p:cNvGrpSpPr/>
        <p:nvPr/>
      </p:nvGrpSpPr>
      <p:grpSpPr>
        <a:xfrm>
          <a:off x="0" y="0"/>
          <a:ext cx="0" cy="0"/>
          <a:chOff x="0" y="0"/>
          <a:chExt cx="0" cy="0"/>
        </a:xfrm>
      </p:grpSpPr>
      <p:pic>
        <p:nvPicPr>
          <p:cNvPr id="229" name="Google Shape;229;p26" descr="image.png"/>
          <p:cNvPicPr preferRelativeResize="0"/>
          <p:nvPr/>
        </p:nvPicPr>
        <p:blipFill rotWithShape="1">
          <a:blip r:embed="rId3">
            <a:alphaModFix/>
          </a:blip>
          <a:srcRect/>
          <a:stretch/>
        </p:blipFill>
        <p:spPr>
          <a:xfrm>
            <a:off x="571500" y="1473547"/>
            <a:ext cx="11049000" cy="4863405"/>
          </a:xfrm>
          <a:prstGeom prst="rect">
            <a:avLst/>
          </a:prstGeom>
          <a:noFill/>
          <a:ln>
            <a:noFill/>
          </a:ln>
        </p:spPr>
      </p:pic>
      <p:sp>
        <p:nvSpPr>
          <p:cNvPr id="230" name="Google Shape;230;p26"/>
          <p:cNvSpPr txBox="1"/>
          <p:nvPr/>
        </p:nvSpPr>
        <p:spPr>
          <a:xfrm>
            <a:off x="571500" y="521047"/>
            <a:ext cx="116016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005088"/>
                </a:solidFill>
                <a:latin typeface="Merriweather"/>
                <a:ea typeface="Merriweather"/>
                <a:cs typeface="Merriweather"/>
                <a:sym typeface="Merriweather"/>
              </a:rPr>
              <a:t>Problem 2: Convergence of f(x) (Best Run)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4"/>
        <p:cNvGrpSpPr/>
        <p:nvPr/>
      </p:nvGrpSpPr>
      <p:grpSpPr>
        <a:xfrm>
          <a:off x="0" y="0"/>
          <a:ext cx="0" cy="0"/>
          <a:chOff x="0" y="0"/>
          <a:chExt cx="0" cy="0"/>
        </a:xfrm>
      </p:grpSpPr>
      <p:pic>
        <p:nvPicPr>
          <p:cNvPr id="235" name="Google Shape;235;p27" descr="image.png"/>
          <p:cNvPicPr preferRelativeResize="0"/>
          <p:nvPr/>
        </p:nvPicPr>
        <p:blipFill rotWithShape="1">
          <a:blip r:embed="rId3">
            <a:alphaModFix/>
          </a:blip>
          <a:srcRect/>
          <a:stretch/>
        </p:blipFill>
        <p:spPr>
          <a:xfrm>
            <a:off x="571500" y="1344959"/>
            <a:ext cx="11049000" cy="5120580"/>
          </a:xfrm>
          <a:prstGeom prst="rect">
            <a:avLst/>
          </a:prstGeom>
          <a:noFill/>
          <a:ln>
            <a:noFill/>
          </a:ln>
        </p:spPr>
      </p:pic>
      <p:sp>
        <p:nvSpPr>
          <p:cNvPr id="236" name="Google Shape;236;p27"/>
          <p:cNvSpPr txBox="1"/>
          <p:nvPr/>
        </p:nvSpPr>
        <p:spPr>
          <a:xfrm>
            <a:off x="571500" y="392459"/>
            <a:ext cx="116016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005088"/>
                </a:solidFill>
                <a:latin typeface="Merriweather"/>
                <a:ea typeface="Merriweather"/>
                <a:cs typeface="Merriweather"/>
                <a:sym typeface="Merriweather"/>
              </a:rPr>
              <a:t>Problem 2: Computational Cost (Best Run)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0"/>
        <p:cNvGrpSpPr/>
        <p:nvPr/>
      </p:nvGrpSpPr>
      <p:grpSpPr>
        <a:xfrm>
          <a:off x="0" y="0"/>
          <a:ext cx="0" cy="0"/>
          <a:chOff x="0" y="0"/>
          <a:chExt cx="0" cy="0"/>
        </a:xfrm>
      </p:grpSpPr>
      <p:sp>
        <p:nvSpPr>
          <p:cNvPr id="241" name="Google Shape;241;p28"/>
          <p:cNvSpPr txBox="1"/>
          <p:nvPr/>
        </p:nvSpPr>
        <p:spPr>
          <a:xfrm>
            <a:off x="3360658" y="2509837"/>
            <a:ext cx="5470683" cy="714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500" b="1" i="0" u="none" strike="noStrike" cap="none">
                <a:solidFill>
                  <a:srgbClr val="005088"/>
                </a:solidFill>
                <a:latin typeface="Merriweather"/>
                <a:ea typeface="Merriweather"/>
                <a:cs typeface="Merriweather"/>
                <a:sym typeface="Merriweather"/>
              </a:rPr>
              <a:t>Results: Problem 3</a:t>
            </a:r>
            <a:endParaRPr/>
          </a:p>
        </p:txBody>
      </p:sp>
      <p:sp>
        <p:nvSpPr>
          <p:cNvPr id="242" name="Google Shape;242;p28"/>
          <p:cNvSpPr/>
          <p:nvPr/>
        </p:nvSpPr>
        <p:spPr>
          <a:xfrm>
            <a:off x="5619750" y="3700462"/>
            <a:ext cx="952500" cy="47625"/>
          </a:xfrm>
          <a:prstGeom prst="rect">
            <a:avLst/>
          </a:prstGeom>
          <a:solidFill>
            <a:srgbClr val="11CA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3" name="Google Shape;243;p28"/>
          <p:cNvSpPr txBox="1"/>
          <p:nvPr/>
        </p:nvSpPr>
        <p:spPr>
          <a:xfrm>
            <a:off x="4481810" y="4033837"/>
            <a:ext cx="3228230" cy="3143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0" i="0" u="none" strike="noStrike" cap="none">
                <a:solidFill>
                  <a:srgbClr val="121212"/>
                </a:solidFill>
                <a:latin typeface="DM Sans"/>
                <a:ea typeface="DM Sans"/>
                <a:cs typeface="DM Sans"/>
                <a:sym typeface="DM Sans"/>
              </a:rPr>
              <a:t>min f(x) = x₁ + x₂ + x₃ (8 variables)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7"/>
        <p:cNvGrpSpPr/>
        <p:nvPr/>
      </p:nvGrpSpPr>
      <p:grpSpPr>
        <a:xfrm>
          <a:off x="0" y="0"/>
          <a:ext cx="0" cy="0"/>
          <a:chOff x="0" y="0"/>
          <a:chExt cx="0" cy="0"/>
        </a:xfrm>
      </p:grpSpPr>
      <p:graphicFrame>
        <p:nvGraphicFramePr>
          <p:cNvPr id="248" name="Google Shape;248;p29"/>
          <p:cNvGraphicFramePr/>
          <p:nvPr/>
        </p:nvGraphicFramePr>
        <p:xfrm>
          <a:off x="571500" y="1762125"/>
          <a:ext cx="3000000" cy="3000000"/>
        </p:xfrm>
        <a:graphic>
          <a:graphicData uri="http://schemas.openxmlformats.org/drawingml/2006/table">
            <a:tbl>
              <a:tblPr firstRow="1" bandRow="1">
                <a:noFill/>
                <a:tableStyleId>{FD27073D-2863-4D9E-8CA5-1BB38697C2BA}</a:tableStyleId>
              </a:tblPr>
              <a:tblGrid>
                <a:gridCol w="5314950">
                  <a:extLst>
                    <a:ext uri="{9D8B030D-6E8A-4147-A177-3AD203B41FA5}">
                      <a16:colId xmlns:a16="http://schemas.microsoft.com/office/drawing/2014/main" val="20000"/>
                    </a:ext>
                  </a:extLst>
                </a:gridCol>
                <a:gridCol w="5734050">
                  <a:extLst>
                    <a:ext uri="{9D8B030D-6E8A-4147-A177-3AD203B41FA5}">
                      <a16:colId xmlns:a16="http://schemas.microsoft.com/office/drawing/2014/main" val="20001"/>
                    </a:ext>
                  </a:extLst>
                </a:gridCol>
              </a:tblGrid>
              <a:tr h="612325">
                <a:tc>
                  <a:txBody>
                    <a:bodyPr/>
                    <a:lstStyle/>
                    <a:p>
                      <a:pPr marL="0" marR="0" lvl="0" indent="0" algn="l" rtl="0">
                        <a:spcBef>
                          <a:spcPts val="0"/>
                        </a:spcBef>
                        <a:spcAft>
                          <a:spcPts val="0"/>
                        </a:spcAft>
                        <a:buNone/>
                      </a:pPr>
                      <a:r>
                        <a:rPr lang="en-US" sz="1500" b="1" i="0" u="none" strike="noStrike" cap="none">
                          <a:solidFill>
                            <a:srgbClr val="005088"/>
                          </a:solidFill>
                          <a:latin typeface="Merriweather"/>
                          <a:ea typeface="Merriweather"/>
                          <a:cs typeface="Merriweather"/>
                          <a:sym typeface="Merriweather"/>
                        </a:rPr>
                        <a:t>Statistic</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5F5F5"/>
                    </a:solidFill>
                  </a:tcPr>
                </a:tc>
                <a:tc>
                  <a:txBody>
                    <a:bodyPr/>
                    <a:lstStyle/>
                    <a:p>
                      <a:pPr marL="0" marR="0" lvl="0" indent="0" algn="l" rtl="0">
                        <a:spcBef>
                          <a:spcPts val="0"/>
                        </a:spcBef>
                        <a:spcAft>
                          <a:spcPts val="0"/>
                        </a:spcAft>
                        <a:buNone/>
                      </a:pPr>
                      <a:r>
                        <a:rPr lang="en-US" sz="1500" b="1" i="0" u="none" strike="noStrike" cap="none">
                          <a:solidFill>
                            <a:srgbClr val="005088"/>
                          </a:solidFill>
                          <a:latin typeface="Merriweather"/>
                          <a:ea typeface="Merriweather"/>
                          <a:cs typeface="Merriweather"/>
                          <a:sym typeface="Merriweather"/>
                        </a:rPr>
                        <a:t>Value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5F5F5"/>
                    </a:solidFill>
                  </a:tcPr>
                </a:tc>
                <a:extLst>
                  <a:ext uri="{0D108BD9-81ED-4DB2-BD59-A6C34878D82A}">
                    <a16:rowId xmlns:a16="http://schemas.microsoft.com/office/drawing/2014/main" val="10000"/>
                  </a:ext>
                </a:extLst>
              </a:tr>
              <a:tr h="612325">
                <a:tc>
                  <a:txBody>
                    <a:bodyPr/>
                    <a:lstStyle/>
                    <a:p>
                      <a:pPr marL="0" marR="0" lvl="0" indent="0" algn="l" rtl="0">
                        <a:spcBef>
                          <a:spcPts val="0"/>
                        </a:spcBef>
                        <a:spcAft>
                          <a:spcPts val="0"/>
                        </a:spcAft>
                        <a:buNone/>
                      </a:pPr>
                      <a:r>
                        <a:rPr lang="en-US" sz="1350" b="1" i="0" u="none" strike="noStrike" cap="none">
                          <a:solidFill>
                            <a:srgbClr val="005088"/>
                          </a:solidFill>
                          <a:latin typeface="DM Sans"/>
                          <a:ea typeface="DM Sans"/>
                          <a:cs typeface="DM Sans"/>
                          <a:sym typeface="DM Sans"/>
                        </a:rPr>
                        <a:t>Best f(x*)</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121212"/>
                          </a:solidFill>
                          <a:latin typeface="DM Sans"/>
                          <a:ea typeface="DM Sans"/>
                          <a:cs typeface="DM Sans"/>
                          <a:sym typeface="DM Sans"/>
                        </a:rPr>
                        <a:t>7049.3307</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12325">
                <a:tc>
                  <a:txBody>
                    <a:bodyPr/>
                    <a:lstStyle/>
                    <a:p>
                      <a:pPr marL="0" marR="0" lvl="0" indent="0" algn="l" rtl="0">
                        <a:spcBef>
                          <a:spcPts val="0"/>
                        </a:spcBef>
                        <a:spcAft>
                          <a:spcPts val="0"/>
                        </a:spcAft>
                        <a:buNone/>
                      </a:pPr>
                      <a:r>
                        <a:rPr lang="en-US" sz="1350" b="1" i="0" u="none" strike="noStrike" cap="none">
                          <a:solidFill>
                            <a:srgbClr val="005088"/>
                          </a:solidFill>
                          <a:latin typeface="DM Sans"/>
                          <a:ea typeface="DM Sans"/>
                          <a:cs typeface="DM Sans"/>
                          <a:sym typeface="DM Sans"/>
                        </a:rPr>
                        <a:t>Worst f(x*)</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a:solidFill>
                            <a:srgbClr val="121212"/>
                          </a:solidFill>
                          <a:latin typeface="DM Sans"/>
                          <a:ea typeface="DM Sans"/>
                          <a:cs typeface="DM Sans"/>
                          <a:sym typeface="DM Sans"/>
                        </a:rPr>
                        <a:t>14489.0751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612325">
                <a:tc>
                  <a:txBody>
                    <a:bodyPr/>
                    <a:lstStyle/>
                    <a:p>
                      <a:pPr marL="0" marR="0" lvl="0" indent="0" algn="l" rtl="0">
                        <a:spcBef>
                          <a:spcPts val="0"/>
                        </a:spcBef>
                        <a:spcAft>
                          <a:spcPts val="0"/>
                        </a:spcAft>
                        <a:buNone/>
                      </a:pPr>
                      <a:r>
                        <a:rPr lang="en-US" sz="1350" b="1" i="0" u="none" strike="noStrike" cap="none">
                          <a:solidFill>
                            <a:srgbClr val="005088"/>
                          </a:solidFill>
                          <a:latin typeface="DM Sans"/>
                          <a:ea typeface="DM Sans"/>
                          <a:cs typeface="DM Sans"/>
                          <a:sym typeface="DM Sans"/>
                        </a:rPr>
                        <a:t>Mean f(x*)</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a:solidFill>
                            <a:srgbClr val="121212"/>
                          </a:solidFill>
                          <a:latin typeface="DM Sans"/>
                          <a:ea typeface="DM Sans"/>
                          <a:cs typeface="DM Sans"/>
                          <a:sym typeface="DM Sans"/>
                        </a:rPr>
                        <a:t>11826.5143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612325">
                <a:tc>
                  <a:txBody>
                    <a:bodyPr/>
                    <a:lstStyle/>
                    <a:p>
                      <a:pPr marL="0" marR="0" lvl="0" indent="0" algn="l" rtl="0">
                        <a:spcBef>
                          <a:spcPts val="0"/>
                        </a:spcBef>
                        <a:spcAft>
                          <a:spcPts val="0"/>
                        </a:spcAft>
                        <a:buNone/>
                      </a:pPr>
                      <a:r>
                        <a:rPr lang="en-US" sz="1350" b="1" i="0" u="none" strike="noStrike" cap="none">
                          <a:solidFill>
                            <a:srgbClr val="005088"/>
                          </a:solidFill>
                          <a:latin typeface="DM Sans"/>
                          <a:ea typeface="DM Sans"/>
                          <a:cs typeface="DM Sans"/>
                          <a:sym typeface="DM Sans"/>
                        </a:rPr>
                        <a:t>Median f(x*)</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a:solidFill>
                            <a:srgbClr val="121212"/>
                          </a:solidFill>
                          <a:latin typeface="DM Sans"/>
                          <a:ea typeface="DM Sans"/>
                          <a:cs typeface="DM Sans"/>
                          <a:sym typeface="DM Sans"/>
                        </a:rPr>
                        <a:t>10677.2217</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612325">
                <a:tc>
                  <a:txBody>
                    <a:bodyPr/>
                    <a:lstStyle/>
                    <a:p>
                      <a:pPr marL="0" marR="0" lvl="0" indent="0" algn="l" rtl="0">
                        <a:spcBef>
                          <a:spcPts val="0"/>
                        </a:spcBef>
                        <a:spcAft>
                          <a:spcPts val="0"/>
                        </a:spcAft>
                        <a:buNone/>
                      </a:pPr>
                      <a:r>
                        <a:rPr lang="en-US" sz="1350" b="1" i="0" u="none" strike="noStrike" cap="none">
                          <a:solidFill>
                            <a:srgbClr val="005088"/>
                          </a:solidFill>
                          <a:latin typeface="DM Sans"/>
                          <a:ea typeface="DM Sans"/>
                          <a:cs typeface="DM Sans"/>
                          <a:sym typeface="DM Sans"/>
                        </a:rPr>
                        <a:t>Std. Deviation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a:solidFill>
                            <a:srgbClr val="121212"/>
                          </a:solidFill>
                          <a:latin typeface="DM Sans"/>
                          <a:ea typeface="DM Sans"/>
                          <a:cs typeface="DM Sans"/>
                          <a:sym typeface="DM Sans"/>
                        </a:rPr>
                        <a:t>2419.5671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612325">
                <a:tc>
                  <a:txBody>
                    <a:bodyPr/>
                    <a:lstStyle/>
                    <a:p>
                      <a:pPr marL="0" marR="0" lvl="0" indent="0" algn="l" rtl="0">
                        <a:spcBef>
                          <a:spcPts val="0"/>
                        </a:spcBef>
                        <a:spcAft>
                          <a:spcPts val="0"/>
                        </a:spcAft>
                        <a:buNone/>
                      </a:pPr>
                      <a:r>
                        <a:rPr lang="en-US" sz="1350" b="1" i="0" u="none" strike="noStrike" cap="none">
                          <a:solidFill>
                            <a:srgbClr val="005088"/>
                          </a:solidFill>
                          <a:latin typeface="DM Sans"/>
                          <a:ea typeface="DM Sans"/>
                          <a:cs typeface="DM Sans"/>
                          <a:sym typeface="DM Sans"/>
                        </a:rPr>
                        <a:t>Best x* (x1, x2, x3)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121212"/>
                          </a:solidFill>
                          <a:latin typeface="DM Sans"/>
                          <a:ea typeface="DM Sans"/>
                          <a:cs typeface="DM Sans"/>
                          <a:sym typeface="DM Sans"/>
                        </a:rPr>
                        <a:t>(579.3, 1359.9, 5110.1)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
        <p:nvSpPr>
          <p:cNvPr id="249" name="Google Shape;249;p29"/>
          <p:cNvSpPr/>
          <p:nvPr/>
        </p:nvSpPr>
        <p:spPr>
          <a:xfrm>
            <a:off x="571500" y="2386012"/>
            <a:ext cx="5314950" cy="952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0" name="Google Shape;250;p29"/>
          <p:cNvSpPr/>
          <p:nvPr/>
        </p:nvSpPr>
        <p:spPr>
          <a:xfrm>
            <a:off x="5886450" y="2386012"/>
            <a:ext cx="5734050" cy="952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1" name="Google Shape;251;p29"/>
          <p:cNvSpPr/>
          <p:nvPr/>
        </p:nvSpPr>
        <p:spPr>
          <a:xfrm>
            <a:off x="571500" y="2995612"/>
            <a:ext cx="5314950" cy="952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2" name="Google Shape;252;p29"/>
          <p:cNvSpPr/>
          <p:nvPr/>
        </p:nvSpPr>
        <p:spPr>
          <a:xfrm>
            <a:off x="5886450" y="2995612"/>
            <a:ext cx="5734050" cy="952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3" name="Google Shape;253;p29"/>
          <p:cNvSpPr/>
          <p:nvPr/>
        </p:nvSpPr>
        <p:spPr>
          <a:xfrm>
            <a:off x="571500" y="3605212"/>
            <a:ext cx="5314950" cy="952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4" name="Google Shape;254;p29"/>
          <p:cNvSpPr/>
          <p:nvPr/>
        </p:nvSpPr>
        <p:spPr>
          <a:xfrm>
            <a:off x="5886450" y="3605212"/>
            <a:ext cx="5734050" cy="952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5" name="Google Shape;255;p29"/>
          <p:cNvSpPr/>
          <p:nvPr/>
        </p:nvSpPr>
        <p:spPr>
          <a:xfrm>
            <a:off x="571500" y="4214812"/>
            <a:ext cx="5314950" cy="952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6" name="Google Shape;256;p29"/>
          <p:cNvSpPr/>
          <p:nvPr/>
        </p:nvSpPr>
        <p:spPr>
          <a:xfrm>
            <a:off x="5886450" y="4214812"/>
            <a:ext cx="5734050" cy="952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7" name="Google Shape;257;p29"/>
          <p:cNvSpPr/>
          <p:nvPr/>
        </p:nvSpPr>
        <p:spPr>
          <a:xfrm>
            <a:off x="571500" y="4824412"/>
            <a:ext cx="5314950" cy="952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8" name="Google Shape;258;p29"/>
          <p:cNvSpPr/>
          <p:nvPr/>
        </p:nvSpPr>
        <p:spPr>
          <a:xfrm>
            <a:off x="5886450" y="4824412"/>
            <a:ext cx="5734050" cy="952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9" name="Google Shape;259;p29"/>
          <p:cNvSpPr/>
          <p:nvPr/>
        </p:nvSpPr>
        <p:spPr>
          <a:xfrm>
            <a:off x="571500" y="5434012"/>
            <a:ext cx="5314950" cy="952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0" name="Google Shape;260;p29"/>
          <p:cNvSpPr/>
          <p:nvPr/>
        </p:nvSpPr>
        <p:spPr>
          <a:xfrm>
            <a:off x="5886450" y="5434012"/>
            <a:ext cx="5734050" cy="952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1" name="Google Shape;261;p29"/>
          <p:cNvSpPr txBox="1"/>
          <p:nvPr/>
        </p:nvSpPr>
        <p:spPr>
          <a:xfrm>
            <a:off x="571500" y="571500"/>
            <a:ext cx="11601600" cy="554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600" b="1" i="0" u="none" strike="noStrike" cap="none">
                <a:solidFill>
                  <a:srgbClr val="005088"/>
                </a:solidFill>
                <a:latin typeface="Merriweather"/>
                <a:ea typeface="Merriweather"/>
                <a:cs typeface="Merriweather"/>
                <a:sym typeface="Merriweather"/>
              </a:rPr>
              <a:t>Problem 3: 10-Run Statistics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5"/>
        <p:cNvGrpSpPr/>
        <p:nvPr/>
      </p:nvGrpSpPr>
      <p:grpSpPr>
        <a:xfrm>
          <a:off x="0" y="0"/>
          <a:ext cx="0" cy="0"/>
          <a:chOff x="0" y="0"/>
          <a:chExt cx="0" cy="0"/>
        </a:xfrm>
      </p:grpSpPr>
      <p:pic>
        <p:nvPicPr>
          <p:cNvPr id="266" name="Google Shape;266;p30" descr="image.png"/>
          <p:cNvPicPr preferRelativeResize="0"/>
          <p:nvPr/>
        </p:nvPicPr>
        <p:blipFill rotWithShape="1">
          <a:blip r:embed="rId3">
            <a:alphaModFix/>
          </a:blip>
          <a:srcRect/>
          <a:stretch/>
        </p:blipFill>
        <p:spPr>
          <a:xfrm>
            <a:off x="571500" y="1344959"/>
            <a:ext cx="11049000" cy="5120580"/>
          </a:xfrm>
          <a:prstGeom prst="rect">
            <a:avLst/>
          </a:prstGeom>
          <a:noFill/>
          <a:ln>
            <a:noFill/>
          </a:ln>
        </p:spPr>
      </p:pic>
      <p:sp>
        <p:nvSpPr>
          <p:cNvPr id="267" name="Google Shape;267;p30"/>
          <p:cNvSpPr txBox="1"/>
          <p:nvPr/>
        </p:nvSpPr>
        <p:spPr>
          <a:xfrm>
            <a:off x="571500" y="392459"/>
            <a:ext cx="116016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005088"/>
                </a:solidFill>
                <a:latin typeface="Merriweather"/>
                <a:ea typeface="Merriweather"/>
                <a:cs typeface="Merriweather"/>
                <a:sym typeface="Merriweather"/>
              </a:rPr>
              <a:t>Problem 3: Convergence of f(x) (Best Run)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1"/>
        <p:cNvGrpSpPr/>
        <p:nvPr/>
      </p:nvGrpSpPr>
      <p:grpSpPr>
        <a:xfrm>
          <a:off x="0" y="0"/>
          <a:ext cx="0" cy="0"/>
          <a:chOff x="0" y="0"/>
          <a:chExt cx="0" cy="0"/>
        </a:xfrm>
      </p:grpSpPr>
      <p:pic>
        <p:nvPicPr>
          <p:cNvPr id="272" name="Google Shape;272;p31" descr="image.png"/>
          <p:cNvPicPr preferRelativeResize="0"/>
          <p:nvPr/>
        </p:nvPicPr>
        <p:blipFill rotWithShape="1">
          <a:blip r:embed="rId3">
            <a:alphaModFix/>
          </a:blip>
          <a:srcRect/>
          <a:stretch/>
        </p:blipFill>
        <p:spPr>
          <a:xfrm>
            <a:off x="571500" y="1344959"/>
            <a:ext cx="11049000" cy="5120580"/>
          </a:xfrm>
          <a:prstGeom prst="rect">
            <a:avLst/>
          </a:prstGeom>
          <a:noFill/>
          <a:ln>
            <a:noFill/>
          </a:ln>
        </p:spPr>
      </p:pic>
      <p:sp>
        <p:nvSpPr>
          <p:cNvPr id="273" name="Google Shape;273;p31"/>
          <p:cNvSpPr txBox="1"/>
          <p:nvPr/>
        </p:nvSpPr>
        <p:spPr>
          <a:xfrm>
            <a:off x="571500" y="392459"/>
            <a:ext cx="116016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005088"/>
                </a:solidFill>
                <a:latin typeface="Merriweather"/>
                <a:ea typeface="Merriweather"/>
                <a:cs typeface="Merriweather"/>
                <a:sym typeface="Merriweather"/>
              </a:rPr>
              <a:t>Problem 3: Computational Cost (Best Run)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7"/>
        <p:cNvGrpSpPr/>
        <p:nvPr/>
      </p:nvGrpSpPr>
      <p:grpSpPr>
        <a:xfrm>
          <a:off x="0" y="0"/>
          <a:ext cx="0" cy="0"/>
          <a:chOff x="0" y="0"/>
          <a:chExt cx="0" cy="0"/>
        </a:xfrm>
      </p:grpSpPr>
      <p:pic>
        <p:nvPicPr>
          <p:cNvPr id="278" name="Google Shape;278;p32" descr="image.png"/>
          <p:cNvPicPr preferRelativeResize="0"/>
          <p:nvPr/>
        </p:nvPicPr>
        <p:blipFill rotWithShape="1">
          <a:blip r:embed="rId3">
            <a:alphaModFix/>
          </a:blip>
          <a:srcRect/>
          <a:stretch/>
        </p:blipFill>
        <p:spPr>
          <a:xfrm>
            <a:off x="571500" y="1847850"/>
            <a:ext cx="3429000" cy="4114800"/>
          </a:xfrm>
          <a:prstGeom prst="rect">
            <a:avLst/>
          </a:prstGeom>
          <a:noFill/>
          <a:ln>
            <a:noFill/>
          </a:ln>
        </p:spPr>
      </p:pic>
      <p:pic>
        <p:nvPicPr>
          <p:cNvPr id="279" name="Google Shape;279;p32" descr="image.png"/>
          <p:cNvPicPr preferRelativeResize="0"/>
          <p:nvPr/>
        </p:nvPicPr>
        <p:blipFill rotWithShape="1">
          <a:blip r:embed="rId4">
            <a:alphaModFix/>
          </a:blip>
          <a:srcRect/>
          <a:stretch/>
        </p:blipFill>
        <p:spPr>
          <a:xfrm>
            <a:off x="4381500" y="1847850"/>
            <a:ext cx="3429000" cy="4114800"/>
          </a:xfrm>
          <a:prstGeom prst="rect">
            <a:avLst/>
          </a:prstGeom>
          <a:noFill/>
          <a:ln>
            <a:noFill/>
          </a:ln>
        </p:spPr>
      </p:pic>
      <p:pic>
        <p:nvPicPr>
          <p:cNvPr id="280" name="Google Shape;280;p32" descr="image.png"/>
          <p:cNvPicPr preferRelativeResize="0"/>
          <p:nvPr/>
        </p:nvPicPr>
        <p:blipFill rotWithShape="1">
          <a:blip r:embed="rId4">
            <a:alphaModFix/>
          </a:blip>
          <a:srcRect/>
          <a:stretch/>
        </p:blipFill>
        <p:spPr>
          <a:xfrm>
            <a:off x="8191500" y="1847850"/>
            <a:ext cx="3429000" cy="4114800"/>
          </a:xfrm>
          <a:prstGeom prst="rect">
            <a:avLst/>
          </a:prstGeom>
          <a:noFill/>
          <a:ln>
            <a:noFill/>
          </a:ln>
        </p:spPr>
      </p:pic>
      <p:sp>
        <p:nvSpPr>
          <p:cNvPr id="281" name="Google Shape;281;p32"/>
          <p:cNvSpPr txBox="1"/>
          <p:nvPr/>
        </p:nvSpPr>
        <p:spPr>
          <a:xfrm>
            <a:off x="1355883" y="2867025"/>
            <a:ext cx="1860232" cy="38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005088"/>
                </a:solidFill>
                <a:latin typeface="Merriweather"/>
                <a:ea typeface="Merriweather"/>
                <a:cs typeface="Merriweather"/>
                <a:sym typeface="Merriweather"/>
              </a:rPr>
              <a:t>Robustness</a:t>
            </a:r>
            <a:endParaRPr/>
          </a:p>
        </p:txBody>
      </p:sp>
      <p:sp>
        <p:nvSpPr>
          <p:cNvPr id="282" name="Google Shape;282;p32"/>
          <p:cNvSpPr txBox="1"/>
          <p:nvPr/>
        </p:nvSpPr>
        <p:spPr>
          <a:xfrm>
            <a:off x="876300" y="3562350"/>
            <a:ext cx="2819400" cy="20781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121212"/>
                </a:solidFill>
                <a:latin typeface="DM Sans"/>
                <a:ea typeface="DM Sans"/>
                <a:cs typeface="DM Sans"/>
                <a:sym typeface="DM Sans"/>
              </a:rPr>
              <a:t>The 10-run statistics show a very low standard deviation for </a:t>
            </a:r>
            <a:r>
              <a:rPr lang="en-US" sz="1350">
                <a:solidFill>
                  <a:srgbClr val="121212"/>
                </a:solidFill>
                <a:latin typeface="DM Sans"/>
                <a:ea typeface="DM Sans"/>
                <a:cs typeface="DM Sans"/>
                <a:sym typeface="DM Sans"/>
              </a:rPr>
              <a:t>two of the </a:t>
            </a:r>
            <a:r>
              <a:rPr lang="en-US" sz="1350" b="0" i="0" u="none" strike="noStrike" cap="none">
                <a:solidFill>
                  <a:srgbClr val="121212"/>
                </a:solidFill>
                <a:latin typeface="DM Sans"/>
                <a:ea typeface="DM Sans"/>
                <a:cs typeface="DM Sans"/>
                <a:sym typeface="DM Sans"/>
              </a:rPr>
              <a:t>problems, indicating the method is robust for most cas</a:t>
            </a:r>
            <a:r>
              <a:rPr lang="en-US" sz="1350">
                <a:solidFill>
                  <a:srgbClr val="121212"/>
                </a:solidFill>
                <a:latin typeface="DM Sans"/>
                <a:ea typeface="DM Sans"/>
                <a:cs typeface="DM Sans"/>
                <a:sym typeface="DM Sans"/>
              </a:rPr>
              <a:t>es </a:t>
            </a:r>
            <a:r>
              <a:rPr lang="en-US" sz="1350" b="0" i="0" u="none" strike="noStrike" cap="none">
                <a:solidFill>
                  <a:srgbClr val="121212"/>
                </a:solidFill>
                <a:latin typeface="DM Sans"/>
                <a:ea typeface="DM Sans"/>
                <a:cs typeface="DM Sans"/>
                <a:sym typeface="DM Sans"/>
              </a:rPr>
              <a:t> and reliably finds the global optimum regardless of the random starting point.</a:t>
            </a:r>
            <a:endParaRPr/>
          </a:p>
        </p:txBody>
      </p:sp>
      <p:sp>
        <p:nvSpPr>
          <p:cNvPr id="283" name="Google Shape;283;p32"/>
          <p:cNvSpPr txBox="1"/>
          <p:nvPr/>
        </p:nvSpPr>
        <p:spPr>
          <a:xfrm>
            <a:off x="4785836" y="2867025"/>
            <a:ext cx="2620327" cy="38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005088"/>
                </a:solidFill>
                <a:latin typeface="Merriweather"/>
                <a:ea typeface="Merriweather"/>
                <a:cs typeface="Merriweather"/>
                <a:sym typeface="Merriweather"/>
              </a:rPr>
              <a:t>Bound Handling</a:t>
            </a:r>
            <a:endParaRPr/>
          </a:p>
        </p:txBody>
      </p:sp>
      <p:sp>
        <p:nvSpPr>
          <p:cNvPr id="284" name="Google Shape;284;p32"/>
          <p:cNvSpPr txBox="1"/>
          <p:nvPr/>
        </p:nvSpPr>
        <p:spPr>
          <a:xfrm>
            <a:off x="4686300" y="3562350"/>
            <a:ext cx="2819400" cy="17664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121212"/>
                </a:solidFill>
                <a:latin typeface="DM Sans"/>
                <a:ea typeface="DM Sans"/>
                <a:cs typeface="DM Sans"/>
                <a:sym typeface="DM Sans"/>
              </a:rPr>
              <a:t>The alpha_limit calculation (based on x_bounds and s_k) in the 1D search was effective, preventing the solver from ever violating the simple boxed constraints. This helped in</a:t>
            </a:r>
            <a:r>
              <a:rPr lang="en-US" sz="1350">
                <a:solidFill>
                  <a:srgbClr val="121212"/>
                </a:solidFill>
                <a:latin typeface="DM Sans"/>
                <a:ea typeface="DM Sans"/>
                <a:cs typeface="DM Sans"/>
                <a:sym typeface="DM Sans"/>
              </a:rPr>
              <a:t> bracket penalty method</a:t>
            </a:r>
            <a:endParaRPr/>
          </a:p>
        </p:txBody>
      </p:sp>
      <p:sp>
        <p:nvSpPr>
          <p:cNvPr id="285" name="Google Shape;285;p32"/>
          <p:cNvSpPr txBox="1"/>
          <p:nvPr/>
        </p:nvSpPr>
        <p:spPr>
          <a:xfrm>
            <a:off x="8425815" y="2867025"/>
            <a:ext cx="2960400" cy="7389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a:solidFill>
                  <a:srgbClr val="005088"/>
                </a:solidFill>
                <a:latin typeface="Merriweather"/>
                <a:ea typeface="Merriweather"/>
                <a:cs typeface="Merriweather"/>
                <a:sym typeface="Merriweather"/>
              </a:rPr>
              <a:t>Redundant for smaller epsilon</a:t>
            </a:r>
            <a:endParaRPr/>
          </a:p>
        </p:txBody>
      </p:sp>
      <p:sp>
        <p:nvSpPr>
          <p:cNvPr id="286" name="Google Shape;286;p32"/>
          <p:cNvSpPr txBox="1"/>
          <p:nvPr/>
        </p:nvSpPr>
        <p:spPr>
          <a:xfrm>
            <a:off x="8496300" y="3943350"/>
            <a:ext cx="2819400" cy="17664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a:solidFill>
                  <a:srgbClr val="121212"/>
                </a:solidFill>
                <a:latin typeface="DM Sans"/>
                <a:ea typeface="DM Sans"/>
                <a:cs typeface="DM Sans"/>
                <a:sym typeface="DM Sans"/>
              </a:rPr>
              <a:t>Result is almost the same for lesser values of epsilon, while drastically increasing the number of function evaluations. Proper selection of epsilon is important for minimizing the cost of the function.</a:t>
            </a:r>
            <a:endParaRPr/>
          </a:p>
        </p:txBody>
      </p:sp>
      <p:pic>
        <p:nvPicPr>
          <p:cNvPr id="287" name="Google Shape;287;p32" descr="image.png"/>
          <p:cNvPicPr preferRelativeResize="0"/>
          <p:nvPr/>
        </p:nvPicPr>
        <p:blipFill rotWithShape="1">
          <a:blip r:embed="rId5">
            <a:alphaModFix/>
          </a:blip>
          <a:srcRect/>
          <a:stretch/>
        </p:blipFill>
        <p:spPr>
          <a:xfrm>
            <a:off x="2085975" y="2171700"/>
            <a:ext cx="400050" cy="457200"/>
          </a:xfrm>
          <a:prstGeom prst="rect">
            <a:avLst/>
          </a:prstGeom>
          <a:noFill/>
          <a:ln>
            <a:noFill/>
          </a:ln>
        </p:spPr>
      </p:pic>
      <p:pic>
        <p:nvPicPr>
          <p:cNvPr id="288" name="Google Shape;288;p32" descr="image.png"/>
          <p:cNvPicPr preferRelativeResize="0"/>
          <p:nvPr/>
        </p:nvPicPr>
        <p:blipFill rotWithShape="1">
          <a:blip r:embed="rId6">
            <a:alphaModFix/>
          </a:blip>
          <a:srcRect/>
          <a:stretch/>
        </p:blipFill>
        <p:spPr>
          <a:xfrm>
            <a:off x="5810250" y="2171700"/>
            <a:ext cx="571500" cy="457200"/>
          </a:xfrm>
          <a:prstGeom prst="rect">
            <a:avLst/>
          </a:prstGeom>
          <a:noFill/>
          <a:ln>
            <a:noFill/>
          </a:ln>
        </p:spPr>
      </p:pic>
      <p:pic>
        <p:nvPicPr>
          <p:cNvPr id="289" name="Google Shape;289;p32" descr="image.png"/>
          <p:cNvPicPr preferRelativeResize="0"/>
          <p:nvPr/>
        </p:nvPicPr>
        <p:blipFill rotWithShape="1">
          <a:blip r:embed="rId7">
            <a:alphaModFix/>
          </a:blip>
          <a:srcRect/>
          <a:stretch/>
        </p:blipFill>
        <p:spPr>
          <a:xfrm>
            <a:off x="9620250" y="2171700"/>
            <a:ext cx="571500" cy="457200"/>
          </a:xfrm>
          <a:prstGeom prst="rect">
            <a:avLst/>
          </a:prstGeom>
          <a:noFill/>
          <a:ln>
            <a:noFill/>
          </a:ln>
        </p:spPr>
      </p:pic>
      <p:sp>
        <p:nvSpPr>
          <p:cNvPr id="290" name="Google Shape;290;p32"/>
          <p:cNvSpPr txBox="1"/>
          <p:nvPr/>
        </p:nvSpPr>
        <p:spPr>
          <a:xfrm>
            <a:off x="571500" y="571500"/>
            <a:ext cx="11601600" cy="554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600" b="1" i="0" u="none" strike="noStrike" cap="none">
                <a:solidFill>
                  <a:srgbClr val="005088"/>
                </a:solidFill>
                <a:latin typeface="Merriweather"/>
                <a:ea typeface="Merriweather"/>
                <a:cs typeface="Merriweather"/>
                <a:sym typeface="Merriweather"/>
              </a:rPr>
              <a:t>Observations &amp; Conclusions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3"/>
          <p:cNvSpPr txBox="1"/>
          <p:nvPr/>
        </p:nvSpPr>
        <p:spPr>
          <a:xfrm>
            <a:off x="571500" y="571500"/>
            <a:ext cx="11601600" cy="554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600" b="1">
                <a:solidFill>
                  <a:srgbClr val="005088"/>
                </a:solidFill>
                <a:latin typeface="Merriweather"/>
                <a:ea typeface="Merriweather"/>
                <a:cs typeface="Merriweather"/>
                <a:sym typeface="Merriweather"/>
              </a:rPr>
              <a:t>Additional Work</a:t>
            </a:r>
            <a:endParaRPr/>
          </a:p>
        </p:txBody>
      </p:sp>
      <p:sp>
        <p:nvSpPr>
          <p:cNvPr id="296" name="Google Shape;296;p33"/>
          <p:cNvSpPr txBox="1">
            <a:spLocks noGrp="1"/>
          </p:cNvSpPr>
          <p:nvPr>
            <p:ph type="body" idx="4294967295"/>
          </p:nvPr>
        </p:nvSpPr>
        <p:spPr>
          <a:xfrm>
            <a:off x="415600" y="1393175"/>
            <a:ext cx="11360700" cy="5464800"/>
          </a:xfrm>
          <a:prstGeom prst="rect">
            <a:avLst/>
          </a:prstGeom>
        </p:spPr>
        <p:txBody>
          <a:bodyPr spcFirstLastPara="1" wrap="square" lIns="91425" tIns="45700" rIns="91425" bIns="45700" anchor="t" anchorCtr="0">
            <a:normAutofit/>
          </a:bodyPr>
          <a:lstStyle/>
          <a:p>
            <a:pPr marL="609600" lvl="0" indent="-508000" algn="l" rtl="0">
              <a:spcBef>
                <a:spcPts val="640"/>
              </a:spcBef>
              <a:spcAft>
                <a:spcPts val="0"/>
              </a:spcAft>
              <a:buSzPts val="3200"/>
              <a:buAutoNum type="arabicParenR"/>
            </a:pPr>
            <a:r>
              <a:rPr lang="en-US" sz="2700" b="1">
                <a:solidFill>
                  <a:srgbClr val="38761D"/>
                </a:solidFill>
              </a:rPr>
              <a:t>Problem 3 optimization</a:t>
            </a:r>
            <a:r>
              <a:rPr lang="en-US" sz="2700"/>
              <a:t>: I tried many ways to better optimization problem 3, like scaling the variables, but it was not very successful. I would like to research better ways to optimize problems like this.</a:t>
            </a:r>
            <a:endParaRPr sz="2700"/>
          </a:p>
          <a:p>
            <a:pPr marL="609600" lvl="0" indent="-476250" algn="l" rtl="0">
              <a:spcBef>
                <a:spcPts val="640"/>
              </a:spcBef>
              <a:spcAft>
                <a:spcPts val="0"/>
              </a:spcAft>
              <a:buSzPts val="2700"/>
              <a:buAutoNum type="arabicParenR"/>
            </a:pPr>
            <a:r>
              <a:rPr lang="en-US" sz="2700" b="1">
                <a:solidFill>
                  <a:srgbClr val="38761D"/>
                </a:solidFill>
              </a:rPr>
              <a:t>Redundant epsilon</a:t>
            </a:r>
            <a:r>
              <a:rPr lang="en-US" sz="2700"/>
              <a:t>: I would like to optimize the algorithm such that it adjusts the value of epsilon automatically based on the need of the algorithm. I have made some progress towards this, and will be pushing the final result on github once it is done.</a:t>
            </a:r>
            <a:endParaRPr sz="27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0"/>
        <p:cNvGrpSpPr/>
        <p:nvPr/>
      </p:nvGrpSpPr>
      <p:grpSpPr>
        <a:xfrm>
          <a:off x="0" y="0"/>
          <a:ext cx="0" cy="0"/>
          <a:chOff x="0" y="0"/>
          <a:chExt cx="0" cy="0"/>
        </a:xfrm>
      </p:grpSpPr>
      <p:sp>
        <p:nvSpPr>
          <p:cNvPr id="301" name="Google Shape;301;p34"/>
          <p:cNvSpPr txBox="1"/>
          <p:nvPr/>
        </p:nvSpPr>
        <p:spPr>
          <a:xfrm>
            <a:off x="295275" y="2581275"/>
            <a:ext cx="11601600" cy="9234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a:solidFill>
                  <a:srgbClr val="005088"/>
                </a:solidFill>
                <a:latin typeface="Merriweather"/>
                <a:ea typeface="Merriweather"/>
                <a:cs typeface="Merriweather"/>
                <a:sym typeface="Merriweather"/>
              </a:rPr>
              <a:t>Thank You</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1137</Words>
  <Application>Microsoft Office PowerPoint</Application>
  <PresentationFormat>Widescreen</PresentationFormat>
  <Paragraphs>114</Paragraphs>
  <Slides>21</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Merriweather</vt:lpstr>
      <vt:lpstr>Roboto</vt:lpstr>
      <vt:lpstr>Calibri</vt:lpstr>
      <vt:lpstr>DM Sans</vt:lpstr>
      <vt:lpstr>Arial</vt:lpstr>
      <vt:lpstr>Office Theme</vt:lpstr>
      <vt:lpstr>Finding Global Optima for Constrained Problems: A Marquardt-Penalty Approach</vt:lpstr>
      <vt:lpstr>Algorithms</vt:lpstr>
      <vt:lpstr>Flow Chart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Abhinav Ayush</cp:lastModifiedBy>
  <cp:revision>1</cp:revision>
  <dcterms:modified xsi:type="dcterms:W3CDTF">2025-11-17T13:08:59Z</dcterms:modified>
</cp:coreProperties>
</file>